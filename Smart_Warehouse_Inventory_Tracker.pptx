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3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8634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Smart Warehouse Inventory Tracker presentation. This project has been developed by Rajeev Ranjan as part of the IBM Academic Collaboration Program, under B.Tech CSE (AI &amp; ML). This solution automates warehouse inventory management using Java and Object-Oriented Programming principles, guided by Mr. Santanu Sasmal, IBM Subject Matter Specialist.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core problem statement. Inventory management is vital for any warehouse operation. Manual methods are inefficient and error-prone. Modern businesses need automated, real-time solutions. This project addresses these challenges through a Java-based smart inventory system.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project workflow and key features. The flowchart shows the complete data flow from user input through product management, inventory operations, to report generation. Eight key features are highlighted: Product Management, Inventory Tracking, Smart Low Stock Alerts, Dashboard Statistics, Product Search, Inventory Value Calculation, Report Export, and Data Persistence.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demonstrates the four core screens of the Smart Warehouse Inventory Tracker. The Main Menu provides easy navigation. Add Product screen allows entering new inventory items. The Dashboard displays real-time analytics. The Low Stock Alert screen shows automated notifications when inventory falls below minimum thresholds.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what was achieved and outlines the roadmap ahead. The project successfully delivered a smart inventory system with OOP principles. Future enhancements include database integration with MySQL, QR/barcode scanning, AI-driven demand forecasting, cloud deployment on IBM Cloud, multi-warehouse support, and mobile app integration.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concluding slide wraps up the Smart Warehouse Inventory Tracker presentation. Special thanks to Mr. Santanu Sasmal, IBM Subject Matter Specialist, for his invaluable guidance throughout this project. This presentation was created by Rajeev Ranjan as part of the B.Tech CSE (AI &amp; ML) program under IBM Academic Collaboration.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3.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2.png"/><Relationship Id="rId9" Type="http://schemas.openxmlformats.org/officeDocument/2006/relationships/image" Target="../media/image19.png"/><Relationship Id="rId1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7.png"/><Relationship Id="rId7" Type="http://schemas.microsoft.com/office/2007/relationships/hdphoto" Target="../media/hdphoto1.wdp"/><Relationship Id="rId12"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9.png"/><Relationship Id="rId5" Type="http://schemas.openxmlformats.org/officeDocument/2006/relationships/image" Target="../media/image18.png"/><Relationship Id="rId10" Type="http://schemas.openxmlformats.org/officeDocument/2006/relationships/image" Target="../media/image28.png"/><Relationship Id="rId4" Type="http://schemas.openxmlformats.org/officeDocument/2006/relationships/image" Target="../media/image24.png"/><Relationship Id="rId9" Type="http://schemas.openxmlformats.org/officeDocument/2006/relationships/image" Target="../media/image27.png"/></Relationships>
</file>

<file path=ppt/slides/_rels/slide5.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39.png"/><Relationship Id="rId3" Type="http://schemas.openxmlformats.org/officeDocument/2006/relationships/image" Target="../media/image1.png"/><Relationship Id="rId7" Type="http://schemas.openxmlformats.org/officeDocument/2006/relationships/image" Target="../media/image17.png"/><Relationship Id="rId12"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4.png"/><Relationship Id="rId11" Type="http://schemas.openxmlformats.org/officeDocument/2006/relationships/image" Target="../media/image4.png"/><Relationship Id="rId5" Type="http://schemas.openxmlformats.org/officeDocument/2006/relationships/image" Target="../media/image33.png"/><Relationship Id="rId10" Type="http://schemas.openxmlformats.org/officeDocument/2006/relationships/image" Target="../media/image37.png"/><Relationship Id="rId4" Type="http://schemas.openxmlformats.org/officeDocument/2006/relationships/image" Target="../media/image32.png"/><Relationship Id="rId9" Type="http://schemas.openxmlformats.org/officeDocument/2006/relationships/image" Target="../media/image36.png"/><Relationship Id="rId14" Type="http://schemas.openxmlformats.org/officeDocument/2006/relationships/image" Target="../media/image40.png"/></Relationships>
</file>

<file path=ppt/slides/_rels/slide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png"/><Relationship Id="rId7"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8.png"/><Relationship Id="rId11" Type="http://schemas.openxmlformats.org/officeDocument/2006/relationships/image" Target="../media/image6.png"/><Relationship Id="rId5" Type="http://schemas.openxmlformats.org/officeDocument/2006/relationships/image" Target="../media/image4.png"/><Relationship Id="rId10" Type="http://schemas.openxmlformats.org/officeDocument/2006/relationships/image" Target="../media/image44.png"/><Relationship Id="rId4" Type="http://schemas.openxmlformats.org/officeDocument/2006/relationships/image" Target="../media/image2.png"/><Relationship Id="rId9"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4"/>
          <a:srcRect/>
          <a:stretch/>
        </p:blipFill>
        <p:spPr>
          <a:xfrm>
            <a:off x="8320750" y="70467"/>
            <a:ext cx="622082" cy="248833"/>
          </a:xfrm>
          <a:prstGeom prst="rect">
            <a:avLst/>
          </a:prstGeom>
        </p:spPr>
      </p:pic>
      <p:sp>
        <p:nvSpPr>
          <p:cNvPr id="3" name="Shape 0"/>
          <p:cNvSpPr/>
          <p:nvPr/>
        </p:nvSpPr>
        <p:spPr>
          <a:xfrm>
            <a:off x="0" y="0"/>
            <a:ext cx="73152" cy="5143500"/>
          </a:xfrm>
          <a:prstGeom prst="rect">
            <a:avLst/>
          </a:prstGeom>
          <a:solidFill>
            <a:srgbClr val="4589FF"/>
          </a:solidFill>
          <a:ln w="12700">
            <a:solidFill>
              <a:srgbClr val="4589FF"/>
            </a:solidFill>
            <a:prstDash val="solid"/>
          </a:ln>
        </p:spPr>
        <p:txBody>
          <a:bodyPr/>
          <a:lstStyle/>
          <a:p>
            <a:endParaRPr lang="en-IN"/>
          </a:p>
        </p:txBody>
      </p:sp>
      <p:sp>
        <p:nvSpPr>
          <p:cNvPr id="4" name="Shape 1"/>
          <p:cNvSpPr/>
          <p:nvPr/>
        </p:nvSpPr>
        <p:spPr>
          <a:xfrm>
            <a:off x="137160" y="365760"/>
            <a:ext cx="8869680" cy="54864"/>
          </a:xfrm>
          <a:prstGeom prst="rect">
            <a:avLst/>
          </a:prstGeom>
          <a:solidFill>
            <a:srgbClr val="4589FF">
              <a:alpha val="60000"/>
            </a:srgbClr>
          </a:solidFill>
          <a:ln w="12700">
            <a:solidFill>
              <a:srgbClr val="4589FF"/>
            </a:solidFill>
            <a:prstDash val="solid"/>
          </a:ln>
        </p:spPr>
        <p:txBody>
          <a:bodyPr/>
          <a:lstStyle/>
          <a:p>
            <a:endParaRPr lang="en-IN"/>
          </a:p>
        </p:txBody>
      </p:sp>
      <p:sp>
        <p:nvSpPr>
          <p:cNvPr id="5" name="Shape 2"/>
          <p:cNvSpPr/>
          <p:nvPr/>
        </p:nvSpPr>
        <p:spPr>
          <a:xfrm>
            <a:off x="182880" y="548640"/>
            <a:ext cx="2926080" cy="320040"/>
          </a:xfrm>
          <a:prstGeom prst="rect">
            <a:avLst/>
          </a:prstGeom>
          <a:solidFill>
            <a:srgbClr val="0043CE"/>
          </a:solidFill>
          <a:ln w="12700">
            <a:solidFill>
              <a:srgbClr val="4589FF"/>
            </a:solidFill>
            <a:prstDash val="solid"/>
          </a:ln>
        </p:spPr>
        <p:txBody>
          <a:bodyPr/>
          <a:lstStyle/>
          <a:p>
            <a:endParaRPr lang="en-IN"/>
          </a:p>
        </p:txBody>
      </p:sp>
      <p:sp>
        <p:nvSpPr>
          <p:cNvPr id="6" name="Text 3"/>
          <p:cNvSpPr/>
          <p:nvPr/>
        </p:nvSpPr>
        <p:spPr>
          <a:xfrm>
            <a:off x="201168" y="566928"/>
            <a:ext cx="2907792" cy="283464"/>
          </a:xfrm>
          <a:prstGeom prst="rect">
            <a:avLst/>
          </a:prstGeom>
          <a:noFill/>
          <a:ln/>
        </p:spPr>
        <p:txBody>
          <a:bodyPr wrap="square" lIns="0" tIns="0" rIns="0" bIns="0" rtlCol="0" anchor="ctr"/>
          <a:lstStyle/>
          <a:p>
            <a:pPr marL="0" indent="0" algn="ctr">
              <a:buNone/>
            </a:pPr>
            <a:r>
              <a:rPr lang="en-US" sz="700" b="1" dirty="0">
                <a:solidFill>
                  <a:srgbClr val="FFFFFF"/>
                </a:solidFill>
              </a:rPr>
              <a:t>IBM ACADEMIC COLLABORATION PROGRAM</a:t>
            </a:r>
            <a:endParaRPr lang="en-US" sz="700" dirty="0"/>
          </a:p>
        </p:txBody>
      </p:sp>
      <p:pic>
        <p:nvPicPr>
          <p:cNvPr id="7" name="Image 1" descr="preencoded.png"/>
          <p:cNvPicPr>
            <a:picLocks noChangeAspect="1"/>
          </p:cNvPicPr>
          <p:nvPr/>
        </p:nvPicPr>
        <p:blipFill>
          <a:blip r:embed="rId5"/>
          <a:stretch>
            <a:fillRect/>
          </a:stretch>
        </p:blipFill>
        <p:spPr>
          <a:xfrm>
            <a:off x="228600" y="1005840"/>
            <a:ext cx="640080" cy="640080"/>
          </a:xfrm>
          <a:prstGeom prst="rect">
            <a:avLst/>
          </a:prstGeom>
        </p:spPr>
      </p:pic>
      <p:pic>
        <p:nvPicPr>
          <p:cNvPr id="8" name="Image 2" descr="preencoded.png"/>
          <p:cNvPicPr>
            <a:picLocks noChangeAspect="1"/>
          </p:cNvPicPr>
          <p:nvPr/>
        </p:nvPicPr>
        <p:blipFill>
          <a:blip r:embed="rId6"/>
          <a:stretch>
            <a:fillRect/>
          </a:stretch>
        </p:blipFill>
        <p:spPr>
          <a:xfrm>
            <a:off x="960120" y="1005840"/>
            <a:ext cx="640080" cy="640080"/>
          </a:xfrm>
          <a:prstGeom prst="rect">
            <a:avLst/>
          </a:prstGeom>
        </p:spPr>
      </p:pic>
      <p:pic>
        <p:nvPicPr>
          <p:cNvPr id="9" name="Image 3" descr="preencoded.png"/>
          <p:cNvPicPr>
            <a:picLocks noChangeAspect="1"/>
          </p:cNvPicPr>
          <p:nvPr/>
        </p:nvPicPr>
        <p:blipFill>
          <a:blip r:embed="rId7"/>
          <a:stretch>
            <a:fillRect/>
          </a:stretch>
        </p:blipFill>
        <p:spPr>
          <a:xfrm>
            <a:off x="1691640" y="1005840"/>
            <a:ext cx="640080" cy="640080"/>
          </a:xfrm>
          <a:prstGeom prst="rect">
            <a:avLst/>
          </a:prstGeom>
        </p:spPr>
      </p:pic>
      <p:sp>
        <p:nvSpPr>
          <p:cNvPr id="10" name="Text 4"/>
          <p:cNvSpPr/>
          <p:nvPr/>
        </p:nvSpPr>
        <p:spPr>
          <a:xfrm>
            <a:off x="137160" y="1554480"/>
            <a:ext cx="8869680" cy="777240"/>
          </a:xfrm>
          <a:prstGeom prst="rect">
            <a:avLst/>
          </a:prstGeom>
          <a:noFill/>
          <a:ln/>
        </p:spPr>
        <p:txBody>
          <a:bodyPr wrap="square" lIns="0" tIns="0" rIns="0" bIns="0" rtlCol="0" anchor="ctr"/>
          <a:lstStyle/>
          <a:p>
            <a:pPr marL="0" indent="0" algn="l">
              <a:buNone/>
            </a:pPr>
            <a:r>
              <a:rPr lang="en-US" sz="4400" b="1" dirty="0">
                <a:solidFill>
                  <a:srgbClr val="FFFFFF"/>
                </a:solidFill>
                <a:latin typeface="Arial Black" pitchFamily="34" charset="0"/>
                <a:ea typeface="Arial Black" pitchFamily="34" charset="-122"/>
                <a:cs typeface="Arial Black" pitchFamily="34" charset="-120"/>
              </a:rPr>
              <a:t>Smart Warehouse</a:t>
            </a:r>
            <a:endParaRPr lang="en-US" sz="4400" dirty="0"/>
          </a:p>
        </p:txBody>
      </p:sp>
      <p:sp>
        <p:nvSpPr>
          <p:cNvPr id="11" name="Text 5"/>
          <p:cNvSpPr/>
          <p:nvPr/>
        </p:nvSpPr>
        <p:spPr>
          <a:xfrm>
            <a:off x="137160" y="2240280"/>
            <a:ext cx="8869680" cy="777240"/>
          </a:xfrm>
          <a:prstGeom prst="rect">
            <a:avLst/>
          </a:prstGeom>
          <a:noFill/>
          <a:ln/>
        </p:spPr>
        <p:txBody>
          <a:bodyPr wrap="square" lIns="0" tIns="0" rIns="0" bIns="0" rtlCol="0" anchor="ctr"/>
          <a:lstStyle/>
          <a:p>
            <a:pPr marL="0" indent="0" algn="l">
              <a:buNone/>
            </a:pPr>
            <a:r>
              <a:rPr lang="en-US" sz="4400" b="1" dirty="0">
                <a:solidFill>
                  <a:srgbClr val="4589FF"/>
                </a:solidFill>
                <a:latin typeface="Arial Black" pitchFamily="34" charset="0"/>
                <a:ea typeface="Arial Black" pitchFamily="34" charset="-122"/>
                <a:cs typeface="Arial Black" pitchFamily="34" charset="-120"/>
              </a:rPr>
              <a:t>Inventory Tracker</a:t>
            </a:r>
            <a:endParaRPr lang="en-US" sz="4400" dirty="0"/>
          </a:p>
        </p:txBody>
      </p:sp>
      <p:sp>
        <p:nvSpPr>
          <p:cNvPr id="12" name="Text 6"/>
          <p:cNvSpPr/>
          <p:nvPr/>
        </p:nvSpPr>
        <p:spPr>
          <a:xfrm>
            <a:off x="137160" y="2999232"/>
            <a:ext cx="6858000" cy="457200"/>
          </a:xfrm>
          <a:prstGeom prst="rect">
            <a:avLst/>
          </a:prstGeom>
          <a:noFill/>
          <a:ln/>
        </p:spPr>
        <p:txBody>
          <a:bodyPr wrap="square" lIns="0" tIns="0" rIns="0" bIns="0" rtlCol="0" anchor="ctr"/>
          <a:lstStyle/>
          <a:p>
            <a:pPr marL="0" indent="0" algn="l">
              <a:buNone/>
            </a:pPr>
            <a:r>
              <a:rPr lang="en-US" sz="1300" i="1" dirty="0">
                <a:solidFill>
                  <a:srgbClr val="AACCFF"/>
                </a:solidFill>
              </a:rPr>
              <a:t>A Smart Inventory Management Solution using Java and Object-Oriented Programming</a:t>
            </a:r>
            <a:endParaRPr lang="en-US" sz="1300" dirty="0"/>
          </a:p>
        </p:txBody>
      </p:sp>
      <p:sp>
        <p:nvSpPr>
          <p:cNvPr id="13" name="Shape 7"/>
          <p:cNvSpPr/>
          <p:nvPr/>
        </p:nvSpPr>
        <p:spPr>
          <a:xfrm>
            <a:off x="137160" y="3493008"/>
            <a:ext cx="8686800" cy="27432"/>
          </a:xfrm>
          <a:prstGeom prst="rect">
            <a:avLst/>
          </a:prstGeom>
          <a:solidFill>
            <a:srgbClr val="0043CE"/>
          </a:solidFill>
          <a:ln w="12700">
            <a:solidFill>
              <a:srgbClr val="0043CE"/>
            </a:solidFill>
            <a:prstDash val="solid"/>
          </a:ln>
        </p:spPr>
        <p:txBody>
          <a:bodyPr/>
          <a:lstStyle/>
          <a:p>
            <a:endParaRPr lang="en-IN"/>
          </a:p>
        </p:txBody>
      </p:sp>
      <p:sp>
        <p:nvSpPr>
          <p:cNvPr id="14" name="Shape 8"/>
          <p:cNvSpPr/>
          <p:nvPr/>
        </p:nvSpPr>
        <p:spPr>
          <a:xfrm>
            <a:off x="137160" y="3566160"/>
            <a:ext cx="4754880" cy="1188720"/>
          </a:xfrm>
          <a:prstGeom prst="rect">
            <a:avLst/>
          </a:prstGeom>
          <a:solidFill>
            <a:srgbClr val="001141"/>
          </a:solidFill>
          <a:ln w="12700">
            <a:solidFill>
              <a:srgbClr val="4589FF"/>
            </a:solidFill>
            <a:prstDash val="solid"/>
          </a:ln>
        </p:spPr>
        <p:txBody>
          <a:bodyPr/>
          <a:lstStyle/>
          <a:p>
            <a:endParaRPr lang="en-IN"/>
          </a:p>
        </p:txBody>
      </p:sp>
      <p:sp>
        <p:nvSpPr>
          <p:cNvPr id="15" name="Text 9"/>
          <p:cNvSpPr/>
          <p:nvPr/>
        </p:nvSpPr>
        <p:spPr>
          <a:xfrm>
            <a:off x="228600" y="3611880"/>
            <a:ext cx="4572000" cy="1097280"/>
          </a:xfrm>
          <a:prstGeom prst="rect">
            <a:avLst/>
          </a:prstGeom>
          <a:noFill/>
          <a:ln/>
        </p:spPr>
        <p:txBody>
          <a:bodyPr wrap="square" lIns="50800" tIns="50800" rIns="50800" bIns="50800" rtlCol="0" anchor="ctr"/>
          <a:lstStyle/>
          <a:p>
            <a:pPr marL="0" indent="0">
              <a:buNone/>
            </a:pPr>
            <a:r>
              <a:rPr lang="en-US" sz="1200" dirty="0">
                <a:solidFill>
                  <a:srgbClr val="8D8D8D"/>
                </a:solidFill>
              </a:rPr>
              <a:t>By: </a:t>
            </a:r>
            <a:r>
              <a:rPr lang="en-US" sz="1200" b="1" dirty="0">
                <a:solidFill>
                  <a:srgbClr val="FFFFFF"/>
                </a:solidFill>
              </a:rPr>
              <a:t>Rajeev Ranjan (2B – ERP_11103)</a:t>
            </a:r>
            <a:endParaRPr lang="en-US" sz="1200" dirty="0"/>
          </a:p>
          <a:p>
            <a:pPr marL="0" indent="0">
              <a:buNone/>
            </a:pPr>
            <a:r>
              <a:rPr lang="en-US" sz="1100" dirty="0">
                <a:solidFill>
                  <a:srgbClr val="8D8D8D"/>
                </a:solidFill>
              </a:rPr>
              <a:t>Program: </a:t>
            </a:r>
            <a:endParaRPr lang="en-US" sz="1200" dirty="0"/>
          </a:p>
          <a:p>
            <a:pPr marL="0" indent="0">
              <a:buNone/>
            </a:pPr>
            <a:r>
              <a:rPr lang="en-US" sz="1100" dirty="0">
                <a:solidFill>
                  <a:srgbClr val="AACCFF"/>
                </a:solidFill>
              </a:rPr>
              <a:t>B.Tech CSE (Artificial Intelligence &amp; Machine Learning)</a:t>
            </a:r>
            <a:endParaRPr lang="en-US" sz="1200" dirty="0"/>
          </a:p>
          <a:p>
            <a:pPr marL="0" indent="0">
              <a:buNone/>
            </a:pPr>
            <a:r>
              <a:rPr lang="en-US" sz="1100" dirty="0">
                <a:solidFill>
                  <a:srgbClr val="8D8D8D"/>
                </a:solidFill>
              </a:rPr>
              <a:t>Academic Partner: </a:t>
            </a:r>
            <a:endParaRPr lang="en-US" sz="1200" dirty="0"/>
          </a:p>
          <a:p>
            <a:pPr marL="0" indent="0">
              <a:buNone/>
            </a:pPr>
            <a:r>
              <a:rPr lang="en-US" sz="1100" dirty="0">
                <a:solidFill>
                  <a:srgbClr val="4589FF"/>
                </a:solidFill>
              </a:rPr>
              <a:t>IBM SkillsBuild / IBM Academic Collaboration</a:t>
            </a:r>
            <a:endParaRPr lang="en-US" sz="1200" dirty="0"/>
          </a:p>
        </p:txBody>
      </p:sp>
      <p:sp>
        <p:nvSpPr>
          <p:cNvPr id="16" name="Shape 10"/>
          <p:cNvSpPr/>
          <p:nvPr/>
        </p:nvSpPr>
        <p:spPr>
          <a:xfrm>
            <a:off x="5029200" y="3566160"/>
            <a:ext cx="3977640" cy="1188720"/>
          </a:xfrm>
          <a:prstGeom prst="rect">
            <a:avLst/>
          </a:prstGeom>
          <a:solidFill>
            <a:srgbClr val="0043CE"/>
          </a:solidFill>
          <a:ln w="12700">
            <a:solidFill>
              <a:srgbClr val="4589FF"/>
            </a:solidFill>
            <a:prstDash val="solid"/>
          </a:ln>
        </p:spPr>
        <p:txBody>
          <a:bodyPr/>
          <a:lstStyle/>
          <a:p>
            <a:endParaRPr lang="en-IN"/>
          </a:p>
        </p:txBody>
      </p:sp>
      <p:pic>
        <p:nvPicPr>
          <p:cNvPr id="17" name="Image 4" descr="preencoded.png"/>
          <p:cNvPicPr>
            <a:picLocks noChangeAspect="1"/>
          </p:cNvPicPr>
          <p:nvPr/>
        </p:nvPicPr>
        <p:blipFill>
          <a:blip r:embed="rId8"/>
          <a:stretch>
            <a:fillRect/>
          </a:stretch>
        </p:blipFill>
        <p:spPr>
          <a:xfrm>
            <a:off x="5138928" y="3730752"/>
            <a:ext cx="411480" cy="411480"/>
          </a:xfrm>
          <a:prstGeom prst="rect">
            <a:avLst/>
          </a:prstGeom>
        </p:spPr>
      </p:pic>
      <p:sp>
        <p:nvSpPr>
          <p:cNvPr id="18" name="Text 11"/>
          <p:cNvSpPr/>
          <p:nvPr/>
        </p:nvSpPr>
        <p:spPr>
          <a:xfrm>
            <a:off x="5650992" y="3584448"/>
            <a:ext cx="3291840" cy="1115568"/>
          </a:xfrm>
          <a:prstGeom prst="rect">
            <a:avLst/>
          </a:prstGeom>
          <a:noFill/>
          <a:ln/>
        </p:spPr>
        <p:txBody>
          <a:bodyPr wrap="square" lIns="50800" tIns="50800" rIns="50800" bIns="50800" rtlCol="0" anchor="ctr"/>
          <a:lstStyle/>
          <a:p>
            <a:pPr marL="0" indent="0">
              <a:buNone/>
            </a:pPr>
            <a:r>
              <a:rPr lang="en-US" sz="1000" dirty="0">
                <a:solidFill>
                  <a:srgbClr val="AADDFF"/>
                </a:solidFill>
              </a:rPr>
              <a:t>Industry Mentor</a:t>
            </a:r>
            <a:endParaRPr lang="en-US" sz="1000" dirty="0"/>
          </a:p>
          <a:p>
            <a:pPr marL="0" indent="0">
              <a:buNone/>
            </a:pPr>
            <a:r>
              <a:rPr lang="en-US" sz="1300" b="1" dirty="0">
                <a:solidFill>
                  <a:srgbClr val="FFFFFF"/>
                </a:solidFill>
              </a:rPr>
              <a:t>Mr. Santanu Sasmal</a:t>
            </a:r>
            <a:endParaRPr lang="en-US" sz="1000" dirty="0"/>
          </a:p>
          <a:p>
            <a:pPr marL="0" indent="0">
              <a:buNone/>
            </a:pPr>
            <a:endParaRPr lang="en-US" sz="1000" dirty="0"/>
          </a:p>
          <a:p>
            <a:pPr marL="0" indent="0">
              <a:buNone/>
            </a:pPr>
            <a:r>
              <a:rPr lang="en-US" sz="1000" dirty="0">
                <a:solidFill>
                  <a:srgbClr val="CCDDFF"/>
                </a:solidFill>
              </a:rPr>
              <a:t>IBM Subject </a:t>
            </a:r>
            <a:r>
              <a:rPr lang="en-US" sz="1000">
                <a:solidFill>
                  <a:srgbClr val="CCDDFF"/>
                </a:solidFill>
              </a:rPr>
              <a:t>Matter Expert (SME)</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73152" y="228600"/>
            <a:ext cx="8933688" cy="713232"/>
          </a:xfrm>
          <a:prstGeom prst="rect">
            <a:avLst/>
          </a:prstGeom>
          <a:solidFill>
            <a:srgbClr val="0043CE"/>
          </a:solidFill>
          <a:ln w="12700">
            <a:solidFill>
              <a:srgbClr val="0043CE"/>
            </a:solidFill>
            <a:prstDash val="solid"/>
          </a:ln>
        </p:spPr>
        <p:txBody>
          <a:bodyPr/>
          <a:lstStyle/>
          <a:p>
            <a:endParaRPr lang="en-IN"/>
          </a:p>
        </p:txBody>
      </p:sp>
      <p:pic>
        <p:nvPicPr>
          <p:cNvPr id="4" name="Image 1" descr="preencoded.png"/>
          <p:cNvPicPr>
            <a:picLocks noChangeAspect="1"/>
          </p:cNvPicPr>
          <p:nvPr/>
        </p:nvPicPr>
        <p:blipFill>
          <a:blip r:embed="rId4"/>
          <a:stretch>
            <a:fillRect/>
          </a:stretch>
        </p:blipFill>
        <p:spPr>
          <a:xfrm>
            <a:off x="182880" y="274320"/>
            <a:ext cx="502920" cy="502920"/>
          </a:xfrm>
          <a:prstGeom prst="rect">
            <a:avLst/>
          </a:prstGeom>
        </p:spPr>
      </p:pic>
      <p:sp>
        <p:nvSpPr>
          <p:cNvPr id="5" name="Text 1"/>
          <p:cNvSpPr/>
          <p:nvPr/>
        </p:nvSpPr>
        <p:spPr>
          <a:xfrm>
            <a:off x="822960" y="237744"/>
            <a:ext cx="8046720" cy="694944"/>
          </a:xfrm>
          <a:prstGeom prst="rect">
            <a:avLst/>
          </a:prstGeom>
          <a:noFill/>
          <a:ln/>
        </p:spPr>
        <p:txBody>
          <a:bodyPr wrap="square" lIns="0" tIns="0" rIns="0" bIns="0" rtlCol="0" anchor="ctr"/>
          <a:lstStyle/>
          <a:p>
            <a:pPr marL="0" indent="0" algn="l">
              <a:buNone/>
            </a:pPr>
            <a:r>
              <a:rPr lang="en-US" sz="2800" b="1" dirty="0">
                <a:solidFill>
                  <a:srgbClr val="FFFFFF"/>
                </a:solidFill>
                <a:latin typeface="Arial Black" pitchFamily="34" charset="0"/>
                <a:ea typeface="Arial Black" pitchFamily="34" charset="-122"/>
                <a:cs typeface="Arial Black" pitchFamily="34" charset="-120"/>
              </a:rPr>
              <a:t>Introduction</a:t>
            </a:r>
            <a:endParaRPr lang="en-US" sz="2800" dirty="0"/>
          </a:p>
        </p:txBody>
      </p:sp>
      <p:sp>
        <p:nvSpPr>
          <p:cNvPr id="6" name="Shape 2"/>
          <p:cNvSpPr/>
          <p:nvPr/>
        </p:nvSpPr>
        <p:spPr>
          <a:xfrm>
            <a:off x="137160" y="1097280"/>
            <a:ext cx="5212080" cy="749808"/>
          </a:xfrm>
          <a:prstGeom prst="rect">
            <a:avLst/>
          </a:prstGeom>
          <a:solidFill>
            <a:srgbClr val="EAF2FF"/>
          </a:solidFill>
          <a:ln w="12700">
            <a:solidFill>
              <a:srgbClr val="4589FF"/>
            </a:solidFill>
            <a:prstDash val="solid"/>
          </a:ln>
          <a:effectLst>
            <a:outerShdw blurRad="50800" dist="25400" dir="8100000" algn="bl" rotWithShape="0">
              <a:srgbClr val="0043CE">
                <a:alpha val="8000"/>
              </a:srgbClr>
            </a:outerShdw>
          </a:effectLst>
        </p:spPr>
        <p:txBody>
          <a:bodyPr/>
          <a:lstStyle/>
          <a:p>
            <a:endParaRPr lang="en-IN"/>
          </a:p>
        </p:txBody>
      </p:sp>
      <p:sp>
        <p:nvSpPr>
          <p:cNvPr id="7" name="Shape 3"/>
          <p:cNvSpPr/>
          <p:nvPr/>
        </p:nvSpPr>
        <p:spPr>
          <a:xfrm>
            <a:off x="137160" y="1097280"/>
            <a:ext cx="54864" cy="749808"/>
          </a:xfrm>
          <a:prstGeom prst="rect">
            <a:avLst/>
          </a:prstGeom>
          <a:solidFill>
            <a:srgbClr val="0043CE"/>
          </a:solidFill>
          <a:ln w="12700">
            <a:solidFill>
              <a:srgbClr val="0043CE"/>
            </a:solidFill>
            <a:prstDash val="solid"/>
          </a:ln>
        </p:spPr>
        <p:txBody>
          <a:bodyPr/>
          <a:lstStyle/>
          <a:p>
            <a:endParaRPr lang="en-IN"/>
          </a:p>
        </p:txBody>
      </p:sp>
      <p:pic>
        <p:nvPicPr>
          <p:cNvPr id="8" name="Image 2" descr="preencoded.png"/>
          <p:cNvPicPr>
            <a:picLocks noChangeAspect="1"/>
          </p:cNvPicPr>
          <p:nvPr/>
        </p:nvPicPr>
        <p:blipFill>
          <a:blip r:embed="rId5"/>
          <a:stretch>
            <a:fillRect/>
          </a:stretch>
        </p:blipFill>
        <p:spPr>
          <a:xfrm>
            <a:off x="256032" y="1252728"/>
            <a:ext cx="384048" cy="384048"/>
          </a:xfrm>
          <a:prstGeom prst="rect">
            <a:avLst/>
          </a:prstGeom>
        </p:spPr>
      </p:pic>
      <p:sp>
        <p:nvSpPr>
          <p:cNvPr id="9" name="Text 4"/>
          <p:cNvSpPr/>
          <p:nvPr/>
        </p:nvSpPr>
        <p:spPr>
          <a:xfrm>
            <a:off x="713232" y="1133856"/>
            <a:ext cx="4526280" cy="274320"/>
          </a:xfrm>
          <a:prstGeom prst="rect">
            <a:avLst/>
          </a:prstGeom>
          <a:noFill/>
          <a:ln/>
        </p:spPr>
        <p:txBody>
          <a:bodyPr wrap="square" lIns="0" tIns="0" rIns="0" bIns="0" rtlCol="0" anchor="ctr"/>
          <a:lstStyle/>
          <a:p>
            <a:pPr marL="0" indent="0">
              <a:buNone/>
            </a:pPr>
            <a:r>
              <a:rPr lang="en-US" sz="1200" b="1" dirty="0">
                <a:solidFill>
                  <a:srgbClr val="0043CE"/>
                </a:solidFill>
              </a:rPr>
              <a:t>Warehouse Operations</a:t>
            </a:r>
            <a:endParaRPr lang="en-US" sz="1200" dirty="0"/>
          </a:p>
        </p:txBody>
      </p:sp>
      <p:sp>
        <p:nvSpPr>
          <p:cNvPr id="10" name="Text 5"/>
          <p:cNvSpPr/>
          <p:nvPr/>
        </p:nvSpPr>
        <p:spPr>
          <a:xfrm>
            <a:off x="713232" y="1389888"/>
            <a:ext cx="4526280" cy="384048"/>
          </a:xfrm>
          <a:prstGeom prst="rect">
            <a:avLst/>
          </a:prstGeom>
          <a:noFill/>
          <a:ln/>
        </p:spPr>
        <p:txBody>
          <a:bodyPr wrap="square" lIns="0" tIns="0" rIns="0" bIns="0" rtlCol="0" anchor="ctr"/>
          <a:lstStyle/>
          <a:p>
            <a:pPr marL="0" indent="0">
              <a:buNone/>
            </a:pPr>
            <a:r>
              <a:rPr lang="en-US" sz="1050" dirty="0">
                <a:solidFill>
                  <a:srgbClr val="262626"/>
                </a:solidFill>
              </a:rPr>
              <a:t>Inventory management is a critical component of modern warehouse operations.</a:t>
            </a:r>
            <a:endParaRPr lang="en-US" sz="1050" dirty="0"/>
          </a:p>
        </p:txBody>
      </p:sp>
      <p:sp>
        <p:nvSpPr>
          <p:cNvPr id="11" name="Shape 6"/>
          <p:cNvSpPr/>
          <p:nvPr/>
        </p:nvSpPr>
        <p:spPr>
          <a:xfrm>
            <a:off x="137160" y="1965960"/>
            <a:ext cx="5212080" cy="749808"/>
          </a:xfrm>
          <a:prstGeom prst="rect">
            <a:avLst/>
          </a:prstGeom>
          <a:solidFill>
            <a:srgbClr val="F0F7FF"/>
          </a:solidFill>
          <a:ln w="12700">
            <a:solidFill>
              <a:srgbClr val="4589FF"/>
            </a:solidFill>
            <a:prstDash val="solid"/>
          </a:ln>
          <a:effectLst>
            <a:outerShdw blurRad="50800" dist="25400" dir="8100000" algn="bl" rotWithShape="0">
              <a:srgbClr val="0043CE">
                <a:alpha val="8000"/>
              </a:srgbClr>
            </a:outerShdw>
          </a:effectLst>
        </p:spPr>
        <p:txBody>
          <a:bodyPr/>
          <a:lstStyle/>
          <a:p>
            <a:endParaRPr lang="en-IN"/>
          </a:p>
        </p:txBody>
      </p:sp>
      <p:sp>
        <p:nvSpPr>
          <p:cNvPr id="12" name="Shape 7"/>
          <p:cNvSpPr/>
          <p:nvPr/>
        </p:nvSpPr>
        <p:spPr>
          <a:xfrm>
            <a:off x="137160" y="1965960"/>
            <a:ext cx="54864" cy="749808"/>
          </a:xfrm>
          <a:prstGeom prst="rect">
            <a:avLst/>
          </a:prstGeom>
          <a:solidFill>
            <a:srgbClr val="0043CE"/>
          </a:solidFill>
          <a:ln w="12700">
            <a:solidFill>
              <a:srgbClr val="0043CE"/>
            </a:solidFill>
            <a:prstDash val="solid"/>
          </a:ln>
        </p:spPr>
        <p:txBody>
          <a:bodyPr/>
          <a:lstStyle/>
          <a:p>
            <a:endParaRPr lang="en-IN"/>
          </a:p>
        </p:txBody>
      </p:sp>
      <p:pic>
        <p:nvPicPr>
          <p:cNvPr id="13" name="Image 3" descr="preencoded.png"/>
          <p:cNvPicPr>
            <a:picLocks noChangeAspect="1"/>
          </p:cNvPicPr>
          <p:nvPr/>
        </p:nvPicPr>
        <p:blipFill>
          <a:blip r:embed="rId6"/>
          <a:stretch>
            <a:fillRect/>
          </a:stretch>
        </p:blipFill>
        <p:spPr>
          <a:xfrm>
            <a:off x="256032" y="2121408"/>
            <a:ext cx="384048" cy="384048"/>
          </a:xfrm>
          <a:prstGeom prst="rect">
            <a:avLst/>
          </a:prstGeom>
        </p:spPr>
      </p:pic>
      <p:sp>
        <p:nvSpPr>
          <p:cNvPr id="14" name="Text 8"/>
          <p:cNvSpPr/>
          <p:nvPr/>
        </p:nvSpPr>
        <p:spPr>
          <a:xfrm>
            <a:off x="713232" y="2002536"/>
            <a:ext cx="4526280" cy="274320"/>
          </a:xfrm>
          <a:prstGeom prst="rect">
            <a:avLst/>
          </a:prstGeom>
          <a:noFill/>
          <a:ln/>
        </p:spPr>
        <p:txBody>
          <a:bodyPr wrap="square" lIns="0" tIns="0" rIns="0" bIns="0" rtlCol="0" anchor="ctr"/>
          <a:lstStyle/>
          <a:p>
            <a:pPr marL="0" indent="0">
              <a:buNone/>
            </a:pPr>
            <a:r>
              <a:rPr lang="en-US" sz="1200" b="1" dirty="0">
                <a:solidFill>
                  <a:srgbClr val="0043CE"/>
                </a:solidFill>
              </a:rPr>
              <a:t>Manual Challenges</a:t>
            </a:r>
            <a:endParaRPr lang="en-US" sz="1200" dirty="0"/>
          </a:p>
        </p:txBody>
      </p:sp>
      <p:sp>
        <p:nvSpPr>
          <p:cNvPr id="15" name="Text 9"/>
          <p:cNvSpPr/>
          <p:nvPr/>
        </p:nvSpPr>
        <p:spPr>
          <a:xfrm>
            <a:off x="713232" y="2258568"/>
            <a:ext cx="4526280" cy="384048"/>
          </a:xfrm>
          <a:prstGeom prst="rect">
            <a:avLst/>
          </a:prstGeom>
          <a:noFill/>
          <a:ln/>
        </p:spPr>
        <p:txBody>
          <a:bodyPr wrap="square" lIns="0" tIns="0" rIns="0" bIns="0" rtlCol="0" anchor="ctr"/>
          <a:lstStyle/>
          <a:p>
            <a:pPr marL="0" indent="0">
              <a:buNone/>
            </a:pPr>
            <a:r>
              <a:rPr lang="en-US" sz="1050" dirty="0">
                <a:solidFill>
                  <a:srgbClr val="262626"/>
                </a:solidFill>
              </a:rPr>
              <a:t>Traditional manual tracking is time-consuming and highly prone to human errors.</a:t>
            </a:r>
            <a:endParaRPr lang="en-US" sz="1050" dirty="0"/>
          </a:p>
        </p:txBody>
      </p:sp>
      <p:sp>
        <p:nvSpPr>
          <p:cNvPr id="16" name="Shape 10"/>
          <p:cNvSpPr/>
          <p:nvPr/>
        </p:nvSpPr>
        <p:spPr>
          <a:xfrm>
            <a:off x="137160" y="2834640"/>
            <a:ext cx="5212080" cy="749808"/>
          </a:xfrm>
          <a:prstGeom prst="rect">
            <a:avLst/>
          </a:prstGeom>
          <a:solidFill>
            <a:srgbClr val="EAF2FF"/>
          </a:solidFill>
          <a:ln w="12700">
            <a:solidFill>
              <a:srgbClr val="4589FF"/>
            </a:solidFill>
            <a:prstDash val="solid"/>
          </a:ln>
          <a:effectLst>
            <a:outerShdw blurRad="50800" dist="25400" dir="8100000" algn="bl" rotWithShape="0">
              <a:srgbClr val="0043CE">
                <a:alpha val="8000"/>
              </a:srgbClr>
            </a:outerShdw>
          </a:effectLst>
        </p:spPr>
        <p:txBody>
          <a:bodyPr/>
          <a:lstStyle/>
          <a:p>
            <a:endParaRPr lang="en-IN"/>
          </a:p>
        </p:txBody>
      </p:sp>
      <p:sp>
        <p:nvSpPr>
          <p:cNvPr id="17" name="Shape 11"/>
          <p:cNvSpPr/>
          <p:nvPr/>
        </p:nvSpPr>
        <p:spPr>
          <a:xfrm>
            <a:off x="137160" y="2834640"/>
            <a:ext cx="54864" cy="749808"/>
          </a:xfrm>
          <a:prstGeom prst="rect">
            <a:avLst/>
          </a:prstGeom>
          <a:solidFill>
            <a:srgbClr val="0043CE"/>
          </a:solidFill>
          <a:ln w="12700">
            <a:solidFill>
              <a:srgbClr val="0043CE"/>
            </a:solidFill>
            <a:prstDash val="solid"/>
          </a:ln>
        </p:spPr>
        <p:txBody>
          <a:bodyPr/>
          <a:lstStyle/>
          <a:p>
            <a:endParaRPr lang="en-IN"/>
          </a:p>
        </p:txBody>
      </p:sp>
      <p:pic>
        <p:nvPicPr>
          <p:cNvPr id="18" name="Image 4" descr="preencoded.png"/>
          <p:cNvPicPr>
            <a:picLocks noChangeAspect="1"/>
          </p:cNvPicPr>
          <p:nvPr/>
        </p:nvPicPr>
        <p:blipFill>
          <a:blip r:embed="rId7"/>
          <a:stretch>
            <a:fillRect/>
          </a:stretch>
        </p:blipFill>
        <p:spPr>
          <a:xfrm>
            <a:off x="256032" y="2990088"/>
            <a:ext cx="384048" cy="384048"/>
          </a:xfrm>
          <a:prstGeom prst="rect">
            <a:avLst/>
          </a:prstGeom>
        </p:spPr>
      </p:pic>
      <p:sp>
        <p:nvSpPr>
          <p:cNvPr id="19" name="Text 12"/>
          <p:cNvSpPr/>
          <p:nvPr/>
        </p:nvSpPr>
        <p:spPr>
          <a:xfrm>
            <a:off x="713232" y="2871216"/>
            <a:ext cx="4526280" cy="274320"/>
          </a:xfrm>
          <a:prstGeom prst="rect">
            <a:avLst/>
          </a:prstGeom>
          <a:noFill/>
          <a:ln/>
        </p:spPr>
        <p:txBody>
          <a:bodyPr wrap="square" lIns="0" tIns="0" rIns="0" bIns="0" rtlCol="0" anchor="ctr"/>
          <a:lstStyle/>
          <a:p>
            <a:pPr marL="0" indent="0">
              <a:buNone/>
            </a:pPr>
            <a:r>
              <a:rPr lang="en-US" sz="1200" b="1" dirty="0">
                <a:solidFill>
                  <a:srgbClr val="0043CE"/>
                </a:solidFill>
              </a:rPr>
              <a:t>Business Need</a:t>
            </a:r>
            <a:endParaRPr lang="en-US" sz="1200" dirty="0"/>
          </a:p>
        </p:txBody>
      </p:sp>
      <p:sp>
        <p:nvSpPr>
          <p:cNvPr id="20" name="Text 13"/>
          <p:cNvSpPr/>
          <p:nvPr/>
        </p:nvSpPr>
        <p:spPr>
          <a:xfrm>
            <a:off x="713232" y="3127248"/>
            <a:ext cx="4526280" cy="384048"/>
          </a:xfrm>
          <a:prstGeom prst="rect">
            <a:avLst/>
          </a:prstGeom>
          <a:noFill/>
          <a:ln/>
        </p:spPr>
        <p:txBody>
          <a:bodyPr wrap="square" lIns="0" tIns="0" rIns="0" bIns="0" rtlCol="0" anchor="ctr"/>
          <a:lstStyle/>
          <a:p>
            <a:pPr marL="0" indent="0">
              <a:buNone/>
            </a:pPr>
            <a:r>
              <a:rPr lang="en-US" sz="1050" dirty="0">
                <a:solidFill>
                  <a:srgbClr val="262626"/>
                </a:solidFill>
              </a:rPr>
              <a:t>Businesses require efficient, real-time stock monitoring and visibility systems.</a:t>
            </a:r>
            <a:endParaRPr lang="en-US" sz="1050" dirty="0"/>
          </a:p>
        </p:txBody>
      </p:sp>
      <p:sp>
        <p:nvSpPr>
          <p:cNvPr id="21" name="Shape 14"/>
          <p:cNvSpPr/>
          <p:nvPr/>
        </p:nvSpPr>
        <p:spPr>
          <a:xfrm>
            <a:off x="137160" y="3703320"/>
            <a:ext cx="5212080" cy="749808"/>
          </a:xfrm>
          <a:prstGeom prst="rect">
            <a:avLst/>
          </a:prstGeom>
          <a:solidFill>
            <a:srgbClr val="F0F7FF"/>
          </a:solidFill>
          <a:ln w="12700">
            <a:solidFill>
              <a:srgbClr val="4589FF"/>
            </a:solidFill>
            <a:prstDash val="solid"/>
          </a:ln>
          <a:effectLst>
            <a:outerShdw blurRad="50800" dist="25400" dir="8100000" algn="bl" rotWithShape="0">
              <a:srgbClr val="0043CE">
                <a:alpha val="8000"/>
              </a:srgbClr>
            </a:outerShdw>
          </a:effectLst>
        </p:spPr>
        <p:txBody>
          <a:bodyPr/>
          <a:lstStyle/>
          <a:p>
            <a:endParaRPr lang="en-IN"/>
          </a:p>
        </p:txBody>
      </p:sp>
      <p:sp>
        <p:nvSpPr>
          <p:cNvPr id="22" name="Shape 15"/>
          <p:cNvSpPr/>
          <p:nvPr/>
        </p:nvSpPr>
        <p:spPr>
          <a:xfrm>
            <a:off x="137160" y="3703320"/>
            <a:ext cx="54864" cy="749808"/>
          </a:xfrm>
          <a:prstGeom prst="rect">
            <a:avLst/>
          </a:prstGeom>
          <a:solidFill>
            <a:srgbClr val="0043CE"/>
          </a:solidFill>
          <a:ln w="12700">
            <a:solidFill>
              <a:srgbClr val="0043CE"/>
            </a:solidFill>
            <a:prstDash val="solid"/>
          </a:ln>
        </p:spPr>
        <p:txBody>
          <a:bodyPr/>
          <a:lstStyle/>
          <a:p>
            <a:endParaRPr lang="en-IN"/>
          </a:p>
        </p:txBody>
      </p:sp>
      <p:pic>
        <p:nvPicPr>
          <p:cNvPr id="23" name="Image 5" descr="preencoded.png"/>
          <p:cNvPicPr>
            <a:picLocks noChangeAspect="1"/>
          </p:cNvPicPr>
          <p:nvPr/>
        </p:nvPicPr>
        <p:blipFill>
          <a:blip r:embed="rId8"/>
          <a:stretch>
            <a:fillRect/>
          </a:stretch>
        </p:blipFill>
        <p:spPr>
          <a:xfrm>
            <a:off x="256032" y="3858768"/>
            <a:ext cx="384048" cy="384048"/>
          </a:xfrm>
          <a:prstGeom prst="rect">
            <a:avLst/>
          </a:prstGeom>
        </p:spPr>
      </p:pic>
      <p:sp>
        <p:nvSpPr>
          <p:cNvPr id="24" name="Text 16"/>
          <p:cNvSpPr/>
          <p:nvPr/>
        </p:nvSpPr>
        <p:spPr>
          <a:xfrm>
            <a:off x="713232" y="3739896"/>
            <a:ext cx="4526280" cy="274320"/>
          </a:xfrm>
          <a:prstGeom prst="rect">
            <a:avLst/>
          </a:prstGeom>
          <a:noFill/>
          <a:ln/>
        </p:spPr>
        <p:txBody>
          <a:bodyPr wrap="square" lIns="0" tIns="0" rIns="0" bIns="0" rtlCol="0" anchor="ctr"/>
          <a:lstStyle/>
          <a:p>
            <a:pPr marL="0" indent="0">
              <a:buNone/>
            </a:pPr>
            <a:r>
              <a:rPr lang="en-US" sz="1200" b="1" dirty="0">
                <a:solidFill>
                  <a:srgbClr val="0043CE"/>
                </a:solidFill>
              </a:rPr>
              <a:t>Smart Solution</a:t>
            </a:r>
            <a:endParaRPr lang="en-US" sz="1200" dirty="0"/>
          </a:p>
        </p:txBody>
      </p:sp>
      <p:sp>
        <p:nvSpPr>
          <p:cNvPr id="25" name="Text 17"/>
          <p:cNvSpPr/>
          <p:nvPr/>
        </p:nvSpPr>
        <p:spPr>
          <a:xfrm>
            <a:off x="713232" y="3995928"/>
            <a:ext cx="4526280" cy="384048"/>
          </a:xfrm>
          <a:prstGeom prst="rect">
            <a:avLst/>
          </a:prstGeom>
          <a:noFill/>
          <a:ln/>
        </p:spPr>
        <p:txBody>
          <a:bodyPr wrap="square" lIns="0" tIns="0" rIns="0" bIns="0" rtlCol="0" anchor="ctr"/>
          <a:lstStyle/>
          <a:p>
            <a:pPr marL="0" indent="0">
              <a:buNone/>
            </a:pPr>
            <a:r>
              <a:rPr lang="en-US" sz="1050" dirty="0">
                <a:solidFill>
                  <a:srgbClr val="262626"/>
                </a:solidFill>
              </a:rPr>
              <a:t>This project automates inventory tracking and streamlines stock management workflows.</a:t>
            </a:r>
            <a:endParaRPr lang="en-US" sz="1050" dirty="0"/>
          </a:p>
        </p:txBody>
      </p:sp>
      <p:sp>
        <p:nvSpPr>
          <p:cNvPr id="26" name="Shape 18"/>
          <p:cNvSpPr/>
          <p:nvPr/>
        </p:nvSpPr>
        <p:spPr>
          <a:xfrm>
            <a:off x="5532120" y="1097280"/>
            <a:ext cx="3474720" cy="3456432"/>
          </a:xfrm>
          <a:prstGeom prst="rect">
            <a:avLst/>
          </a:prstGeom>
          <a:solidFill>
            <a:srgbClr val="001141"/>
          </a:solidFill>
          <a:ln w="12700">
            <a:solidFill>
              <a:srgbClr val="0043CE"/>
            </a:solidFill>
            <a:prstDash val="solid"/>
          </a:ln>
        </p:spPr>
        <p:txBody>
          <a:bodyPr/>
          <a:lstStyle/>
          <a:p>
            <a:endParaRPr lang="en-IN"/>
          </a:p>
        </p:txBody>
      </p:sp>
      <p:sp>
        <p:nvSpPr>
          <p:cNvPr id="27" name="Text 19"/>
          <p:cNvSpPr/>
          <p:nvPr/>
        </p:nvSpPr>
        <p:spPr>
          <a:xfrm>
            <a:off x="5577840" y="1188720"/>
            <a:ext cx="3383280" cy="320040"/>
          </a:xfrm>
          <a:prstGeom prst="rect">
            <a:avLst/>
          </a:prstGeom>
          <a:noFill/>
          <a:ln/>
        </p:spPr>
        <p:txBody>
          <a:bodyPr wrap="square" lIns="0" tIns="0" rIns="0" bIns="0" rtlCol="0" anchor="ctr"/>
          <a:lstStyle/>
          <a:p>
            <a:pPr marL="0" indent="0" algn="ctr">
              <a:buNone/>
            </a:pPr>
            <a:r>
              <a:rPr lang="en-US" sz="1100" b="1" dirty="0">
                <a:solidFill>
                  <a:srgbClr val="4589FF"/>
                </a:solidFill>
              </a:rPr>
              <a:t>INVENTORY ANALYTICS</a:t>
            </a:r>
            <a:endParaRPr lang="en-US" sz="1100" dirty="0"/>
          </a:p>
        </p:txBody>
      </p:sp>
      <p:sp>
        <p:nvSpPr>
          <p:cNvPr id="28" name="Shape 20"/>
          <p:cNvSpPr/>
          <p:nvPr/>
        </p:nvSpPr>
        <p:spPr>
          <a:xfrm>
            <a:off x="5623560" y="1600200"/>
            <a:ext cx="1600200" cy="804672"/>
          </a:xfrm>
          <a:prstGeom prst="rect">
            <a:avLst/>
          </a:prstGeom>
          <a:solidFill>
            <a:srgbClr val="0043CE"/>
          </a:solidFill>
          <a:ln w="12700">
            <a:solidFill>
              <a:srgbClr val="4589FF"/>
            </a:solidFill>
            <a:prstDash val="solid"/>
          </a:ln>
        </p:spPr>
        <p:txBody>
          <a:bodyPr/>
          <a:lstStyle/>
          <a:p>
            <a:endParaRPr lang="en-IN"/>
          </a:p>
        </p:txBody>
      </p:sp>
      <p:sp>
        <p:nvSpPr>
          <p:cNvPr id="29" name="Text 21"/>
          <p:cNvSpPr/>
          <p:nvPr/>
        </p:nvSpPr>
        <p:spPr>
          <a:xfrm>
            <a:off x="5669280" y="1645920"/>
            <a:ext cx="1508760" cy="411480"/>
          </a:xfrm>
          <a:prstGeom prst="rect">
            <a:avLst/>
          </a:prstGeom>
          <a:noFill/>
          <a:ln/>
        </p:spPr>
        <p:txBody>
          <a:bodyPr wrap="square" lIns="0" tIns="0" rIns="0" bIns="0" rtlCol="0" anchor="ctr"/>
          <a:lstStyle/>
          <a:p>
            <a:pPr marL="0" indent="0" algn="ctr">
              <a:buNone/>
            </a:pPr>
            <a:r>
              <a:rPr lang="en-US" sz="2200" b="1" dirty="0">
                <a:solidFill>
                  <a:srgbClr val="FFFFFF"/>
                </a:solidFill>
              </a:rPr>
              <a:t>99.8%</a:t>
            </a:r>
            <a:endParaRPr lang="en-US" sz="2200" dirty="0"/>
          </a:p>
        </p:txBody>
      </p:sp>
      <p:sp>
        <p:nvSpPr>
          <p:cNvPr id="30" name="Text 22"/>
          <p:cNvSpPr/>
          <p:nvPr/>
        </p:nvSpPr>
        <p:spPr>
          <a:xfrm>
            <a:off x="5669280" y="2039112"/>
            <a:ext cx="1508760" cy="274320"/>
          </a:xfrm>
          <a:prstGeom prst="rect">
            <a:avLst/>
          </a:prstGeom>
          <a:noFill/>
          <a:ln/>
        </p:spPr>
        <p:txBody>
          <a:bodyPr wrap="square" lIns="0" tIns="0" rIns="0" bIns="0" rtlCol="0" anchor="ctr"/>
          <a:lstStyle/>
          <a:p>
            <a:pPr marL="0" indent="0" algn="ctr">
              <a:buNone/>
            </a:pPr>
            <a:r>
              <a:rPr lang="en-US" sz="900" dirty="0">
                <a:solidFill>
                  <a:srgbClr val="CCDDFF"/>
                </a:solidFill>
              </a:rPr>
              <a:t>Accuracy Rate</a:t>
            </a:r>
            <a:endParaRPr lang="en-US" sz="900" dirty="0"/>
          </a:p>
        </p:txBody>
      </p:sp>
      <p:sp>
        <p:nvSpPr>
          <p:cNvPr id="31" name="Shape 23"/>
          <p:cNvSpPr/>
          <p:nvPr/>
        </p:nvSpPr>
        <p:spPr>
          <a:xfrm>
            <a:off x="7342632" y="1600200"/>
            <a:ext cx="1600200" cy="804672"/>
          </a:xfrm>
          <a:prstGeom prst="rect">
            <a:avLst/>
          </a:prstGeom>
          <a:solidFill>
            <a:srgbClr val="0072C3"/>
          </a:solidFill>
          <a:ln w="12700">
            <a:solidFill>
              <a:srgbClr val="4589FF"/>
            </a:solidFill>
            <a:prstDash val="solid"/>
          </a:ln>
        </p:spPr>
        <p:txBody>
          <a:bodyPr/>
          <a:lstStyle/>
          <a:p>
            <a:endParaRPr lang="en-IN"/>
          </a:p>
        </p:txBody>
      </p:sp>
      <p:sp>
        <p:nvSpPr>
          <p:cNvPr id="32" name="Text 24"/>
          <p:cNvSpPr/>
          <p:nvPr/>
        </p:nvSpPr>
        <p:spPr>
          <a:xfrm>
            <a:off x="7388352" y="1645920"/>
            <a:ext cx="1508760" cy="411480"/>
          </a:xfrm>
          <a:prstGeom prst="rect">
            <a:avLst/>
          </a:prstGeom>
          <a:noFill/>
          <a:ln/>
        </p:spPr>
        <p:txBody>
          <a:bodyPr wrap="square" lIns="0" tIns="0" rIns="0" bIns="0" rtlCol="0" anchor="ctr"/>
          <a:lstStyle/>
          <a:p>
            <a:pPr marL="0" indent="0" algn="ctr">
              <a:buNone/>
            </a:pPr>
            <a:r>
              <a:rPr lang="en-US" sz="2200" b="1" dirty="0">
                <a:solidFill>
                  <a:srgbClr val="FFFFFF"/>
                </a:solidFill>
              </a:rPr>
              <a:t>3x</a:t>
            </a:r>
            <a:endParaRPr lang="en-US" sz="2200" dirty="0"/>
          </a:p>
        </p:txBody>
      </p:sp>
      <p:sp>
        <p:nvSpPr>
          <p:cNvPr id="33" name="Text 25"/>
          <p:cNvSpPr/>
          <p:nvPr/>
        </p:nvSpPr>
        <p:spPr>
          <a:xfrm>
            <a:off x="7388352" y="2039112"/>
            <a:ext cx="1508760" cy="274320"/>
          </a:xfrm>
          <a:prstGeom prst="rect">
            <a:avLst/>
          </a:prstGeom>
          <a:noFill/>
          <a:ln/>
        </p:spPr>
        <p:txBody>
          <a:bodyPr wrap="square" lIns="0" tIns="0" rIns="0" bIns="0" rtlCol="0" anchor="ctr"/>
          <a:lstStyle/>
          <a:p>
            <a:pPr marL="0" indent="0" algn="ctr">
              <a:buNone/>
            </a:pPr>
            <a:r>
              <a:rPr lang="en-US" sz="900" dirty="0">
                <a:solidFill>
                  <a:srgbClr val="CCDDFF"/>
                </a:solidFill>
              </a:rPr>
              <a:t>Faster Tracking</a:t>
            </a:r>
            <a:endParaRPr lang="en-US" sz="900" dirty="0"/>
          </a:p>
        </p:txBody>
      </p:sp>
      <p:sp>
        <p:nvSpPr>
          <p:cNvPr id="34" name="Shape 26"/>
          <p:cNvSpPr/>
          <p:nvPr/>
        </p:nvSpPr>
        <p:spPr>
          <a:xfrm>
            <a:off x="5623560" y="2560320"/>
            <a:ext cx="1600200" cy="804672"/>
          </a:xfrm>
          <a:prstGeom prst="rect">
            <a:avLst/>
          </a:prstGeom>
          <a:solidFill>
            <a:srgbClr val="0043CE"/>
          </a:solidFill>
          <a:ln w="12700">
            <a:solidFill>
              <a:srgbClr val="4589FF"/>
            </a:solidFill>
            <a:prstDash val="solid"/>
          </a:ln>
        </p:spPr>
        <p:txBody>
          <a:bodyPr/>
          <a:lstStyle/>
          <a:p>
            <a:endParaRPr lang="en-IN"/>
          </a:p>
        </p:txBody>
      </p:sp>
      <p:sp>
        <p:nvSpPr>
          <p:cNvPr id="35" name="Text 27"/>
          <p:cNvSpPr/>
          <p:nvPr/>
        </p:nvSpPr>
        <p:spPr>
          <a:xfrm>
            <a:off x="5669280" y="2606040"/>
            <a:ext cx="1508760" cy="411480"/>
          </a:xfrm>
          <a:prstGeom prst="rect">
            <a:avLst/>
          </a:prstGeom>
          <a:noFill/>
          <a:ln/>
        </p:spPr>
        <p:txBody>
          <a:bodyPr wrap="square" lIns="0" tIns="0" rIns="0" bIns="0" rtlCol="0" anchor="ctr"/>
          <a:lstStyle/>
          <a:p>
            <a:pPr marL="0" indent="0" algn="ctr">
              <a:buNone/>
            </a:pPr>
            <a:r>
              <a:rPr lang="en-US" sz="2200" b="1" dirty="0">
                <a:solidFill>
                  <a:srgbClr val="FFFFFF"/>
                </a:solidFill>
              </a:rPr>
              <a:t>247</a:t>
            </a:r>
            <a:endParaRPr lang="en-US" sz="2200" dirty="0"/>
          </a:p>
        </p:txBody>
      </p:sp>
      <p:sp>
        <p:nvSpPr>
          <p:cNvPr id="36" name="Text 28"/>
          <p:cNvSpPr/>
          <p:nvPr/>
        </p:nvSpPr>
        <p:spPr>
          <a:xfrm>
            <a:off x="5669280" y="2999232"/>
            <a:ext cx="1508760" cy="274320"/>
          </a:xfrm>
          <a:prstGeom prst="rect">
            <a:avLst/>
          </a:prstGeom>
          <a:noFill/>
          <a:ln/>
        </p:spPr>
        <p:txBody>
          <a:bodyPr wrap="square" lIns="0" tIns="0" rIns="0" bIns="0" rtlCol="0" anchor="ctr"/>
          <a:lstStyle/>
          <a:p>
            <a:pPr marL="0" indent="0" algn="ctr">
              <a:buNone/>
            </a:pPr>
            <a:r>
              <a:rPr lang="en-US" sz="900" dirty="0">
                <a:solidFill>
                  <a:srgbClr val="CCDDFF"/>
                </a:solidFill>
              </a:rPr>
              <a:t>Products Managed</a:t>
            </a:r>
            <a:endParaRPr lang="en-US" sz="900" dirty="0"/>
          </a:p>
        </p:txBody>
      </p:sp>
      <p:sp>
        <p:nvSpPr>
          <p:cNvPr id="37" name="Shape 29"/>
          <p:cNvSpPr/>
          <p:nvPr/>
        </p:nvSpPr>
        <p:spPr>
          <a:xfrm>
            <a:off x="7342632" y="2560320"/>
            <a:ext cx="1600200" cy="804672"/>
          </a:xfrm>
          <a:prstGeom prst="rect">
            <a:avLst/>
          </a:prstGeom>
          <a:solidFill>
            <a:srgbClr val="0072C3"/>
          </a:solidFill>
          <a:ln w="12700">
            <a:solidFill>
              <a:srgbClr val="4589FF"/>
            </a:solidFill>
            <a:prstDash val="solid"/>
          </a:ln>
        </p:spPr>
        <p:txBody>
          <a:bodyPr/>
          <a:lstStyle/>
          <a:p>
            <a:endParaRPr lang="en-IN"/>
          </a:p>
        </p:txBody>
      </p:sp>
      <p:sp>
        <p:nvSpPr>
          <p:cNvPr id="38" name="Text 30"/>
          <p:cNvSpPr/>
          <p:nvPr/>
        </p:nvSpPr>
        <p:spPr>
          <a:xfrm>
            <a:off x="7388352" y="2606040"/>
            <a:ext cx="1508760" cy="411480"/>
          </a:xfrm>
          <a:prstGeom prst="rect">
            <a:avLst/>
          </a:prstGeom>
          <a:noFill/>
          <a:ln/>
        </p:spPr>
        <p:txBody>
          <a:bodyPr wrap="square" lIns="0" tIns="0" rIns="0" bIns="0" rtlCol="0" anchor="ctr"/>
          <a:lstStyle/>
          <a:p>
            <a:pPr marL="0" indent="0" algn="ctr">
              <a:buNone/>
            </a:pPr>
            <a:r>
              <a:rPr lang="en-US" sz="2200" b="1" dirty="0">
                <a:solidFill>
                  <a:srgbClr val="FFFFFF"/>
                </a:solidFill>
              </a:rPr>
              <a:t>Real-Time</a:t>
            </a:r>
            <a:endParaRPr lang="en-US" sz="2200" dirty="0"/>
          </a:p>
        </p:txBody>
      </p:sp>
      <p:sp>
        <p:nvSpPr>
          <p:cNvPr id="39" name="Text 31"/>
          <p:cNvSpPr/>
          <p:nvPr/>
        </p:nvSpPr>
        <p:spPr>
          <a:xfrm>
            <a:off x="7388352" y="2999232"/>
            <a:ext cx="1508760" cy="274320"/>
          </a:xfrm>
          <a:prstGeom prst="rect">
            <a:avLst/>
          </a:prstGeom>
          <a:noFill/>
          <a:ln/>
        </p:spPr>
        <p:txBody>
          <a:bodyPr wrap="square" lIns="0" tIns="0" rIns="0" bIns="0" rtlCol="0" anchor="ctr"/>
          <a:lstStyle/>
          <a:p>
            <a:pPr marL="0" indent="0" algn="ctr">
              <a:buNone/>
            </a:pPr>
            <a:r>
              <a:rPr lang="en-US" sz="900" dirty="0">
                <a:solidFill>
                  <a:srgbClr val="CCDDFF"/>
                </a:solidFill>
              </a:rPr>
              <a:t>Stock Visibility</a:t>
            </a:r>
            <a:endParaRPr lang="en-US" sz="900" dirty="0"/>
          </a:p>
        </p:txBody>
      </p:sp>
      <p:pic>
        <p:nvPicPr>
          <p:cNvPr id="40" name="Image 6" descr="preencoded.png"/>
          <p:cNvPicPr>
            <a:picLocks noChangeAspect="1"/>
          </p:cNvPicPr>
          <p:nvPr/>
        </p:nvPicPr>
        <p:blipFill>
          <a:blip r:embed="rId9"/>
          <a:stretch>
            <a:fillRect/>
          </a:stretch>
        </p:blipFill>
        <p:spPr>
          <a:xfrm>
            <a:off x="5760720" y="3703320"/>
            <a:ext cx="411480" cy="411480"/>
          </a:xfrm>
          <a:prstGeom prst="rect">
            <a:avLst/>
          </a:prstGeom>
        </p:spPr>
      </p:pic>
      <p:pic>
        <p:nvPicPr>
          <p:cNvPr id="41" name="Image 7" descr="preencoded.png"/>
          <p:cNvPicPr>
            <a:picLocks noChangeAspect="1"/>
          </p:cNvPicPr>
          <p:nvPr/>
        </p:nvPicPr>
        <p:blipFill>
          <a:blip r:embed="rId10"/>
          <a:stretch>
            <a:fillRect/>
          </a:stretch>
        </p:blipFill>
        <p:spPr>
          <a:xfrm>
            <a:off x="6858000" y="3703320"/>
            <a:ext cx="411480" cy="411480"/>
          </a:xfrm>
          <a:prstGeom prst="rect">
            <a:avLst/>
          </a:prstGeom>
        </p:spPr>
      </p:pic>
      <p:pic>
        <p:nvPicPr>
          <p:cNvPr id="42" name="Image 8" descr="preencoded.png"/>
          <p:cNvPicPr>
            <a:picLocks noChangeAspect="1"/>
          </p:cNvPicPr>
          <p:nvPr/>
        </p:nvPicPr>
        <p:blipFill>
          <a:blip r:embed="rId11"/>
          <a:stretch>
            <a:fillRect/>
          </a:stretch>
        </p:blipFill>
        <p:spPr>
          <a:xfrm>
            <a:off x="7955280" y="3703320"/>
            <a:ext cx="411480" cy="411480"/>
          </a:xfrm>
          <a:prstGeom prst="rect">
            <a:avLst/>
          </a:prstGeom>
        </p:spPr>
      </p:pic>
      <p:sp>
        <p:nvSpPr>
          <p:cNvPr id="43" name="Shape 32"/>
          <p:cNvSpPr/>
          <p:nvPr/>
        </p:nvSpPr>
        <p:spPr>
          <a:xfrm>
            <a:off x="73152" y="4754880"/>
            <a:ext cx="8997696" cy="274320"/>
          </a:xfrm>
          <a:prstGeom prst="rect">
            <a:avLst/>
          </a:prstGeom>
          <a:solidFill>
            <a:srgbClr val="0043CE">
              <a:alpha val="15000"/>
            </a:srgbClr>
          </a:solidFill>
          <a:ln w="12700">
            <a:solidFill>
              <a:srgbClr val="0043CE"/>
            </a:solidFill>
            <a:prstDash val="solid"/>
          </a:ln>
        </p:spPr>
        <p:txBody>
          <a:bodyPr/>
          <a:lstStyle/>
          <a:p>
            <a:endParaRPr lang="en-IN"/>
          </a:p>
        </p:txBody>
      </p:sp>
      <p:sp>
        <p:nvSpPr>
          <p:cNvPr id="44" name="Text 33"/>
          <p:cNvSpPr/>
          <p:nvPr/>
        </p:nvSpPr>
        <p:spPr>
          <a:xfrm>
            <a:off x="91440" y="4754880"/>
            <a:ext cx="8961120" cy="274320"/>
          </a:xfrm>
          <a:prstGeom prst="rect">
            <a:avLst/>
          </a:prstGeom>
          <a:noFill/>
          <a:ln/>
        </p:spPr>
        <p:txBody>
          <a:bodyPr wrap="square" lIns="0" tIns="0" rIns="0" bIns="0" rtlCol="0" anchor="ctr"/>
          <a:lstStyle/>
          <a:p>
            <a:pPr marL="0" indent="0" algn="ctr">
              <a:buNone/>
            </a:pPr>
            <a:r>
              <a:rPr lang="en-US" sz="900" dirty="0">
                <a:solidFill>
                  <a:srgbClr val="0043CE"/>
                </a:solidFill>
              </a:rPr>
              <a:t>IBM SkillsBuild  |  B.Tech CSE (AI &amp; ML)  |  Rajeev Ranjan</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4"/>
          <a:srcRect/>
          <a:stretch/>
        </p:blipFill>
        <p:spPr>
          <a:xfrm>
            <a:off x="7955280" y="237162"/>
            <a:ext cx="914400" cy="365760"/>
          </a:xfrm>
          <a:prstGeom prst="rect">
            <a:avLst/>
          </a:prstGeom>
        </p:spPr>
      </p:pic>
      <p:sp>
        <p:nvSpPr>
          <p:cNvPr id="3" name="Shape 0"/>
          <p:cNvSpPr/>
          <p:nvPr/>
        </p:nvSpPr>
        <p:spPr>
          <a:xfrm>
            <a:off x="73152" y="228600"/>
            <a:ext cx="8887968" cy="713232"/>
          </a:xfrm>
          <a:prstGeom prst="rect">
            <a:avLst/>
          </a:prstGeom>
          <a:solidFill>
            <a:srgbClr val="0043CE"/>
          </a:solidFill>
          <a:ln w="12700">
            <a:solidFill>
              <a:srgbClr val="0043CE"/>
            </a:solidFill>
            <a:prstDash val="solid"/>
          </a:ln>
        </p:spPr>
        <p:txBody>
          <a:bodyPr/>
          <a:lstStyle/>
          <a:p>
            <a:endParaRPr lang="en-IN"/>
          </a:p>
        </p:txBody>
      </p:sp>
      <p:pic>
        <p:nvPicPr>
          <p:cNvPr id="4" name="Image 1" descr="preencoded.png"/>
          <p:cNvPicPr>
            <a:picLocks noChangeAspect="1"/>
          </p:cNvPicPr>
          <p:nvPr/>
        </p:nvPicPr>
        <p:blipFill>
          <a:blip r:embed="rId5"/>
          <a:stretch>
            <a:fillRect/>
          </a:stretch>
        </p:blipFill>
        <p:spPr>
          <a:xfrm>
            <a:off x="182880" y="274320"/>
            <a:ext cx="502920" cy="502920"/>
          </a:xfrm>
          <a:prstGeom prst="rect">
            <a:avLst/>
          </a:prstGeom>
        </p:spPr>
      </p:pic>
      <p:sp>
        <p:nvSpPr>
          <p:cNvPr id="5" name="Text 1"/>
          <p:cNvSpPr/>
          <p:nvPr/>
        </p:nvSpPr>
        <p:spPr>
          <a:xfrm>
            <a:off x="822960" y="237744"/>
            <a:ext cx="8046720" cy="694944"/>
          </a:xfrm>
          <a:prstGeom prst="rect">
            <a:avLst/>
          </a:prstGeom>
          <a:noFill/>
          <a:ln/>
        </p:spPr>
        <p:txBody>
          <a:bodyPr wrap="square" lIns="0" tIns="0" rIns="0" bIns="0" rtlCol="0" anchor="ctr"/>
          <a:lstStyle/>
          <a:p>
            <a:pPr marL="0" indent="0" algn="l">
              <a:buNone/>
            </a:pPr>
            <a:r>
              <a:rPr lang="en-US" sz="2800" b="1" dirty="0">
                <a:solidFill>
                  <a:srgbClr val="FFFFFF"/>
                </a:solidFill>
                <a:latin typeface="Arial Black" pitchFamily="34" charset="0"/>
                <a:ea typeface="Arial Black" pitchFamily="34" charset="-122"/>
                <a:cs typeface="Arial Black" pitchFamily="34" charset="-120"/>
              </a:rPr>
              <a:t>Working of the Project</a:t>
            </a:r>
            <a:endParaRPr lang="en-US" sz="2800" dirty="0"/>
          </a:p>
        </p:txBody>
      </p:sp>
      <p:pic>
        <p:nvPicPr>
          <p:cNvPr id="6" name="Image 2" descr="preencoded.png"/>
          <p:cNvPicPr>
            <a:picLocks noChangeAspect="1"/>
          </p:cNvPicPr>
          <p:nvPr/>
        </p:nvPicPr>
        <p:blipFill>
          <a:blip r:embed="rId6"/>
          <a:srcRect l="22941" t="8809" r="25860" b="7619"/>
          <a:stretch>
            <a:fillRect/>
          </a:stretch>
        </p:blipFill>
        <p:spPr>
          <a:xfrm>
            <a:off x="265176" y="1019909"/>
            <a:ext cx="2843784" cy="3798276"/>
          </a:xfrm>
          <a:prstGeom prst="rect">
            <a:avLst/>
          </a:prstGeom>
        </p:spPr>
      </p:pic>
      <p:sp>
        <p:nvSpPr>
          <p:cNvPr id="7" name="Text 2"/>
          <p:cNvSpPr/>
          <p:nvPr/>
        </p:nvSpPr>
        <p:spPr>
          <a:xfrm>
            <a:off x="3429000" y="1024128"/>
            <a:ext cx="5577840" cy="320040"/>
          </a:xfrm>
          <a:prstGeom prst="rect">
            <a:avLst/>
          </a:prstGeom>
          <a:noFill/>
          <a:ln/>
        </p:spPr>
        <p:txBody>
          <a:bodyPr wrap="square" lIns="0" tIns="0" rIns="0" bIns="0" rtlCol="0" anchor="ctr"/>
          <a:lstStyle/>
          <a:p>
            <a:pPr marL="0" indent="0" algn="ctr">
              <a:buNone/>
            </a:pPr>
            <a:r>
              <a:rPr lang="en-US" sz="1300" b="1" dirty="0">
                <a:solidFill>
                  <a:srgbClr val="4589FF"/>
                </a:solidFill>
              </a:rPr>
              <a:t>KEY FEATURES</a:t>
            </a:r>
            <a:endParaRPr lang="en-US" sz="1300" dirty="0"/>
          </a:p>
        </p:txBody>
      </p:sp>
      <p:sp>
        <p:nvSpPr>
          <p:cNvPr id="8" name="Shape 3"/>
          <p:cNvSpPr/>
          <p:nvPr/>
        </p:nvSpPr>
        <p:spPr>
          <a:xfrm>
            <a:off x="3456432" y="1417320"/>
            <a:ext cx="2633472" cy="731520"/>
          </a:xfrm>
          <a:prstGeom prst="rect">
            <a:avLst/>
          </a:prstGeom>
          <a:solidFill>
            <a:srgbClr val="001141"/>
          </a:solidFill>
          <a:ln w="12700">
            <a:solidFill>
              <a:srgbClr val="4589FF"/>
            </a:solidFill>
            <a:prstDash val="solid"/>
          </a:ln>
        </p:spPr>
        <p:txBody>
          <a:bodyPr/>
          <a:lstStyle/>
          <a:p>
            <a:endParaRPr lang="en-IN"/>
          </a:p>
        </p:txBody>
      </p:sp>
      <p:sp>
        <p:nvSpPr>
          <p:cNvPr id="9" name="Shape 4"/>
          <p:cNvSpPr/>
          <p:nvPr/>
        </p:nvSpPr>
        <p:spPr>
          <a:xfrm>
            <a:off x="3456432" y="1417320"/>
            <a:ext cx="54864" cy="731520"/>
          </a:xfrm>
          <a:prstGeom prst="rect">
            <a:avLst/>
          </a:prstGeom>
          <a:solidFill>
            <a:srgbClr val="4589FF"/>
          </a:solidFill>
          <a:ln w="12700">
            <a:solidFill>
              <a:srgbClr val="4589FF"/>
            </a:solidFill>
            <a:prstDash val="solid"/>
          </a:ln>
        </p:spPr>
        <p:txBody>
          <a:bodyPr/>
          <a:lstStyle/>
          <a:p>
            <a:endParaRPr lang="en-IN"/>
          </a:p>
        </p:txBody>
      </p:sp>
      <p:pic>
        <p:nvPicPr>
          <p:cNvPr id="10" name="Image 3" descr="preencoded.png"/>
          <p:cNvPicPr>
            <a:picLocks noChangeAspect="1"/>
          </p:cNvPicPr>
          <p:nvPr/>
        </p:nvPicPr>
        <p:blipFill>
          <a:blip r:embed="rId7"/>
          <a:stretch>
            <a:fillRect/>
          </a:stretch>
        </p:blipFill>
        <p:spPr>
          <a:xfrm>
            <a:off x="3593592" y="1581912"/>
            <a:ext cx="365760" cy="365760"/>
          </a:xfrm>
          <a:prstGeom prst="rect">
            <a:avLst/>
          </a:prstGeom>
        </p:spPr>
      </p:pic>
      <p:sp>
        <p:nvSpPr>
          <p:cNvPr id="11" name="Text 5"/>
          <p:cNvSpPr/>
          <p:nvPr/>
        </p:nvSpPr>
        <p:spPr>
          <a:xfrm>
            <a:off x="4050792" y="1618488"/>
            <a:ext cx="1965960" cy="329184"/>
          </a:xfrm>
          <a:prstGeom prst="rect">
            <a:avLst/>
          </a:prstGeom>
          <a:noFill/>
          <a:ln/>
        </p:spPr>
        <p:txBody>
          <a:bodyPr wrap="square" lIns="0" tIns="0" rIns="0" bIns="0" rtlCol="0" anchor="ctr"/>
          <a:lstStyle/>
          <a:p>
            <a:pPr marL="0" indent="0">
              <a:buNone/>
            </a:pPr>
            <a:r>
              <a:rPr lang="en-US" sz="1100" b="1" dirty="0">
                <a:solidFill>
                  <a:srgbClr val="FFFFFF"/>
                </a:solidFill>
              </a:rPr>
              <a:t>Product Management</a:t>
            </a:r>
            <a:endParaRPr lang="en-US" sz="1100" dirty="0"/>
          </a:p>
        </p:txBody>
      </p:sp>
      <p:sp>
        <p:nvSpPr>
          <p:cNvPr id="12" name="Shape 6"/>
          <p:cNvSpPr/>
          <p:nvPr/>
        </p:nvSpPr>
        <p:spPr>
          <a:xfrm>
            <a:off x="6245352" y="1417320"/>
            <a:ext cx="2633472" cy="731520"/>
          </a:xfrm>
          <a:prstGeom prst="rect">
            <a:avLst/>
          </a:prstGeom>
          <a:solidFill>
            <a:srgbClr val="001141"/>
          </a:solidFill>
          <a:ln w="12700">
            <a:solidFill>
              <a:srgbClr val="4589FF"/>
            </a:solidFill>
            <a:prstDash val="solid"/>
          </a:ln>
        </p:spPr>
        <p:txBody>
          <a:bodyPr/>
          <a:lstStyle/>
          <a:p>
            <a:endParaRPr lang="en-IN"/>
          </a:p>
        </p:txBody>
      </p:sp>
      <p:sp>
        <p:nvSpPr>
          <p:cNvPr id="13" name="Shape 7"/>
          <p:cNvSpPr/>
          <p:nvPr/>
        </p:nvSpPr>
        <p:spPr>
          <a:xfrm>
            <a:off x="6245352" y="1417320"/>
            <a:ext cx="54864" cy="731520"/>
          </a:xfrm>
          <a:prstGeom prst="rect">
            <a:avLst/>
          </a:prstGeom>
          <a:solidFill>
            <a:srgbClr val="4589FF"/>
          </a:solidFill>
          <a:ln w="12700">
            <a:solidFill>
              <a:srgbClr val="4589FF"/>
            </a:solidFill>
            <a:prstDash val="solid"/>
          </a:ln>
        </p:spPr>
        <p:txBody>
          <a:bodyPr/>
          <a:lstStyle/>
          <a:p>
            <a:endParaRPr lang="en-IN"/>
          </a:p>
        </p:txBody>
      </p:sp>
      <p:pic>
        <p:nvPicPr>
          <p:cNvPr id="14" name="Image 4" descr="preencoded.png"/>
          <p:cNvPicPr>
            <a:picLocks noChangeAspect="1"/>
          </p:cNvPicPr>
          <p:nvPr/>
        </p:nvPicPr>
        <p:blipFill>
          <a:blip r:embed="rId8"/>
          <a:stretch>
            <a:fillRect/>
          </a:stretch>
        </p:blipFill>
        <p:spPr>
          <a:xfrm>
            <a:off x="6382512" y="1581912"/>
            <a:ext cx="365760" cy="365760"/>
          </a:xfrm>
          <a:prstGeom prst="rect">
            <a:avLst/>
          </a:prstGeom>
        </p:spPr>
      </p:pic>
      <p:sp>
        <p:nvSpPr>
          <p:cNvPr id="15" name="Text 8"/>
          <p:cNvSpPr/>
          <p:nvPr/>
        </p:nvSpPr>
        <p:spPr>
          <a:xfrm>
            <a:off x="6839712" y="1618488"/>
            <a:ext cx="1965960" cy="329184"/>
          </a:xfrm>
          <a:prstGeom prst="rect">
            <a:avLst/>
          </a:prstGeom>
          <a:noFill/>
          <a:ln/>
        </p:spPr>
        <p:txBody>
          <a:bodyPr wrap="square" lIns="0" tIns="0" rIns="0" bIns="0" rtlCol="0" anchor="ctr"/>
          <a:lstStyle/>
          <a:p>
            <a:pPr marL="0" indent="0">
              <a:buNone/>
            </a:pPr>
            <a:r>
              <a:rPr lang="en-US" sz="1100" b="1" dirty="0">
                <a:solidFill>
                  <a:srgbClr val="FFFFFF"/>
                </a:solidFill>
              </a:rPr>
              <a:t>Inventory Tracking</a:t>
            </a:r>
            <a:endParaRPr lang="en-US" sz="1100" dirty="0"/>
          </a:p>
        </p:txBody>
      </p:sp>
      <p:sp>
        <p:nvSpPr>
          <p:cNvPr id="16" name="Shape 9"/>
          <p:cNvSpPr/>
          <p:nvPr/>
        </p:nvSpPr>
        <p:spPr>
          <a:xfrm>
            <a:off x="3456432" y="2286000"/>
            <a:ext cx="2633472" cy="731520"/>
          </a:xfrm>
          <a:prstGeom prst="rect">
            <a:avLst/>
          </a:prstGeom>
          <a:solidFill>
            <a:srgbClr val="001141"/>
          </a:solidFill>
          <a:ln w="12700">
            <a:solidFill>
              <a:srgbClr val="4589FF"/>
            </a:solidFill>
            <a:prstDash val="solid"/>
          </a:ln>
        </p:spPr>
        <p:txBody>
          <a:bodyPr/>
          <a:lstStyle/>
          <a:p>
            <a:endParaRPr lang="en-IN"/>
          </a:p>
        </p:txBody>
      </p:sp>
      <p:sp>
        <p:nvSpPr>
          <p:cNvPr id="17" name="Shape 10"/>
          <p:cNvSpPr/>
          <p:nvPr/>
        </p:nvSpPr>
        <p:spPr>
          <a:xfrm>
            <a:off x="3456432" y="2286000"/>
            <a:ext cx="54864" cy="731520"/>
          </a:xfrm>
          <a:prstGeom prst="rect">
            <a:avLst/>
          </a:prstGeom>
          <a:solidFill>
            <a:srgbClr val="4589FF"/>
          </a:solidFill>
          <a:ln w="12700">
            <a:solidFill>
              <a:srgbClr val="4589FF"/>
            </a:solidFill>
            <a:prstDash val="solid"/>
          </a:ln>
        </p:spPr>
        <p:txBody>
          <a:bodyPr/>
          <a:lstStyle/>
          <a:p>
            <a:endParaRPr lang="en-IN"/>
          </a:p>
        </p:txBody>
      </p:sp>
      <p:pic>
        <p:nvPicPr>
          <p:cNvPr id="18" name="Image 5" descr="preencoded.png"/>
          <p:cNvPicPr>
            <a:picLocks noChangeAspect="1"/>
          </p:cNvPicPr>
          <p:nvPr/>
        </p:nvPicPr>
        <p:blipFill>
          <a:blip r:embed="rId9"/>
          <a:stretch>
            <a:fillRect/>
          </a:stretch>
        </p:blipFill>
        <p:spPr>
          <a:xfrm>
            <a:off x="3593592" y="2450592"/>
            <a:ext cx="365760" cy="365760"/>
          </a:xfrm>
          <a:prstGeom prst="rect">
            <a:avLst/>
          </a:prstGeom>
        </p:spPr>
      </p:pic>
      <p:sp>
        <p:nvSpPr>
          <p:cNvPr id="19" name="Text 11"/>
          <p:cNvSpPr/>
          <p:nvPr/>
        </p:nvSpPr>
        <p:spPr>
          <a:xfrm>
            <a:off x="4050792" y="2487168"/>
            <a:ext cx="1965960" cy="329184"/>
          </a:xfrm>
          <a:prstGeom prst="rect">
            <a:avLst/>
          </a:prstGeom>
          <a:noFill/>
          <a:ln/>
        </p:spPr>
        <p:txBody>
          <a:bodyPr wrap="square" lIns="0" tIns="0" rIns="0" bIns="0" rtlCol="0" anchor="ctr"/>
          <a:lstStyle/>
          <a:p>
            <a:pPr marL="0" indent="0">
              <a:buNone/>
            </a:pPr>
            <a:r>
              <a:rPr lang="en-US" sz="1100" b="1" dirty="0">
                <a:solidFill>
                  <a:srgbClr val="FFFFFF"/>
                </a:solidFill>
              </a:rPr>
              <a:t>Low Stock Alerts</a:t>
            </a:r>
            <a:endParaRPr lang="en-US" sz="1100" dirty="0"/>
          </a:p>
        </p:txBody>
      </p:sp>
      <p:sp>
        <p:nvSpPr>
          <p:cNvPr id="20" name="Shape 12"/>
          <p:cNvSpPr/>
          <p:nvPr/>
        </p:nvSpPr>
        <p:spPr>
          <a:xfrm>
            <a:off x="6245352" y="2286000"/>
            <a:ext cx="2633472" cy="731520"/>
          </a:xfrm>
          <a:prstGeom prst="rect">
            <a:avLst/>
          </a:prstGeom>
          <a:solidFill>
            <a:srgbClr val="001141"/>
          </a:solidFill>
          <a:ln w="12700">
            <a:solidFill>
              <a:srgbClr val="4589FF"/>
            </a:solidFill>
            <a:prstDash val="solid"/>
          </a:ln>
        </p:spPr>
        <p:txBody>
          <a:bodyPr/>
          <a:lstStyle/>
          <a:p>
            <a:endParaRPr lang="en-IN"/>
          </a:p>
        </p:txBody>
      </p:sp>
      <p:sp>
        <p:nvSpPr>
          <p:cNvPr id="21" name="Shape 13"/>
          <p:cNvSpPr/>
          <p:nvPr/>
        </p:nvSpPr>
        <p:spPr>
          <a:xfrm>
            <a:off x="6245352" y="2286000"/>
            <a:ext cx="54864" cy="731520"/>
          </a:xfrm>
          <a:prstGeom prst="rect">
            <a:avLst/>
          </a:prstGeom>
          <a:solidFill>
            <a:srgbClr val="4589FF"/>
          </a:solidFill>
          <a:ln w="12700">
            <a:solidFill>
              <a:srgbClr val="4589FF"/>
            </a:solidFill>
            <a:prstDash val="solid"/>
          </a:ln>
        </p:spPr>
        <p:txBody>
          <a:bodyPr/>
          <a:lstStyle/>
          <a:p>
            <a:endParaRPr lang="en-IN"/>
          </a:p>
        </p:txBody>
      </p:sp>
      <p:pic>
        <p:nvPicPr>
          <p:cNvPr id="22" name="Image 6" descr="preencoded.png"/>
          <p:cNvPicPr>
            <a:picLocks noChangeAspect="1"/>
          </p:cNvPicPr>
          <p:nvPr/>
        </p:nvPicPr>
        <p:blipFill>
          <a:blip r:embed="rId10"/>
          <a:stretch>
            <a:fillRect/>
          </a:stretch>
        </p:blipFill>
        <p:spPr>
          <a:xfrm>
            <a:off x="6382512" y="2450592"/>
            <a:ext cx="365760" cy="365760"/>
          </a:xfrm>
          <a:prstGeom prst="rect">
            <a:avLst/>
          </a:prstGeom>
        </p:spPr>
      </p:pic>
      <p:sp>
        <p:nvSpPr>
          <p:cNvPr id="23" name="Text 14"/>
          <p:cNvSpPr/>
          <p:nvPr/>
        </p:nvSpPr>
        <p:spPr>
          <a:xfrm>
            <a:off x="6839712" y="2487168"/>
            <a:ext cx="1965960" cy="329184"/>
          </a:xfrm>
          <a:prstGeom prst="rect">
            <a:avLst/>
          </a:prstGeom>
          <a:noFill/>
          <a:ln/>
        </p:spPr>
        <p:txBody>
          <a:bodyPr wrap="square" lIns="0" tIns="0" rIns="0" bIns="0" rtlCol="0" anchor="ctr"/>
          <a:lstStyle/>
          <a:p>
            <a:pPr marL="0" indent="0">
              <a:buNone/>
            </a:pPr>
            <a:r>
              <a:rPr lang="en-US" sz="1100" b="1" dirty="0">
                <a:solidFill>
                  <a:srgbClr val="FFFFFF"/>
                </a:solidFill>
              </a:rPr>
              <a:t>Dashboard Statistics</a:t>
            </a:r>
            <a:endParaRPr lang="en-US" sz="1100" dirty="0"/>
          </a:p>
        </p:txBody>
      </p:sp>
      <p:sp>
        <p:nvSpPr>
          <p:cNvPr id="24" name="Shape 15"/>
          <p:cNvSpPr/>
          <p:nvPr/>
        </p:nvSpPr>
        <p:spPr>
          <a:xfrm>
            <a:off x="3456432" y="3154680"/>
            <a:ext cx="2633472" cy="731520"/>
          </a:xfrm>
          <a:prstGeom prst="rect">
            <a:avLst/>
          </a:prstGeom>
          <a:solidFill>
            <a:srgbClr val="001141"/>
          </a:solidFill>
          <a:ln w="12700">
            <a:solidFill>
              <a:srgbClr val="4589FF"/>
            </a:solidFill>
            <a:prstDash val="solid"/>
          </a:ln>
        </p:spPr>
        <p:txBody>
          <a:bodyPr/>
          <a:lstStyle/>
          <a:p>
            <a:endParaRPr lang="en-IN"/>
          </a:p>
        </p:txBody>
      </p:sp>
      <p:sp>
        <p:nvSpPr>
          <p:cNvPr id="25" name="Shape 16"/>
          <p:cNvSpPr/>
          <p:nvPr/>
        </p:nvSpPr>
        <p:spPr>
          <a:xfrm>
            <a:off x="3456432" y="3154680"/>
            <a:ext cx="54864" cy="731520"/>
          </a:xfrm>
          <a:prstGeom prst="rect">
            <a:avLst/>
          </a:prstGeom>
          <a:solidFill>
            <a:srgbClr val="4589FF"/>
          </a:solidFill>
          <a:ln w="12700">
            <a:solidFill>
              <a:srgbClr val="4589FF"/>
            </a:solidFill>
            <a:prstDash val="solid"/>
          </a:ln>
        </p:spPr>
        <p:txBody>
          <a:bodyPr/>
          <a:lstStyle/>
          <a:p>
            <a:endParaRPr lang="en-IN"/>
          </a:p>
        </p:txBody>
      </p:sp>
      <p:pic>
        <p:nvPicPr>
          <p:cNvPr id="26" name="Image 7" descr="preencoded.png"/>
          <p:cNvPicPr>
            <a:picLocks noChangeAspect="1"/>
          </p:cNvPicPr>
          <p:nvPr/>
        </p:nvPicPr>
        <p:blipFill>
          <a:blip r:embed="rId11"/>
          <a:stretch>
            <a:fillRect/>
          </a:stretch>
        </p:blipFill>
        <p:spPr>
          <a:xfrm>
            <a:off x="3593592" y="3319272"/>
            <a:ext cx="365760" cy="365760"/>
          </a:xfrm>
          <a:prstGeom prst="rect">
            <a:avLst/>
          </a:prstGeom>
        </p:spPr>
      </p:pic>
      <p:sp>
        <p:nvSpPr>
          <p:cNvPr id="27" name="Text 17"/>
          <p:cNvSpPr/>
          <p:nvPr/>
        </p:nvSpPr>
        <p:spPr>
          <a:xfrm>
            <a:off x="4050792" y="3355848"/>
            <a:ext cx="1965960" cy="329184"/>
          </a:xfrm>
          <a:prstGeom prst="rect">
            <a:avLst/>
          </a:prstGeom>
          <a:noFill/>
          <a:ln/>
        </p:spPr>
        <p:txBody>
          <a:bodyPr wrap="square" lIns="0" tIns="0" rIns="0" bIns="0" rtlCol="0" anchor="ctr"/>
          <a:lstStyle/>
          <a:p>
            <a:pPr marL="0" indent="0">
              <a:buNone/>
            </a:pPr>
            <a:r>
              <a:rPr lang="en-US" sz="1100" b="1" dirty="0">
                <a:solidFill>
                  <a:srgbClr val="FFFFFF"/>
                </a:solidFill>
              </a:rPr>
              <a:t>Product Search</a:t>
            </a:r>
            <a:endParaRPr lang="en-US" sz="1100" dirty="0"/>
          </a:p>
        </p:txBody>
      </p:sp>
      <p:sp>
        <p:nvSpPr>
          <p:cNvPr id="28" name="Shape 18"/>
          <p:cNvSpPr/>
          <p:nvPr/>
        </p:nvSpPr>
        <p:spPr>
          <a:xfrm>
            <a:off x="6245352" y="3154680"/>
            <a:ext cx="2633472" cy="731520"/>
          </a:xfrm>
          <a:prstGeom prst="rect">
            <a:avLst/>
          </a:prstGeom>
          <a:solidFill>
            <a:srgbClr val="001141"/>
          </a:solidFill>
          <a:ln w="12700">
            <a:solidFill>
              <a:srgbClr val="4589FF"/>
            </a:solidFill>
            <a:prstDash val="solid"/>
          </a:ln>
        </p:spPr>
        <p:txBody>
          <a:bodyPr/>
          <a:lstStyle/>
          <a:p>
            <a:endParaRPr lang="en-IN"/>
          </a:p>
        </p:txBody>
      </p:sp>
      <p:sp>
        <p:nvSpPr>
          <p:cNvPr id="29" name="Shape 19"/>
          <p:cNvSpPr/>
          <p:nvPr/>
        </p:nvSpPr>
        <p:spPr>
          <a:xfrm>
            <a:off x="6245352" y="3154680"/>
            <a:ext cx="54864" cy="731520"/>
          </a:xfrm>
          <a:prstGeom prst="rect">
            <a:avLst/>
          </a:prstGeom>
          <a:solidFill>
            <a:srgbClr val="4589FF"/>
          </a:solidFill>
          <a:ln w="12700">
            <a:solidFill>
              <a:srgbClr val="4589FF"/>
            </a:solidFill>
            <a:prstDash val="solid"/>
          </a:ln>
        </p:spPr>
        <p:txBody>
          <a:bodyPr/>
          <a:lstStyle/>
          <a:p>
            <a:endParaRPr lang="en-IN"/>
          </a:p>
        </p:txBody>
      </p:sp>
      <p:pic>
        <p:nvPicPr>
          <p:cNvPr id="30" name="Image 8" descr="preencoded.png"/>
          <p:cNvPicPr>
            <a:picLocks noChangeAspect="1"/>
          </p:cNvPicPr>
          <p:nvPr/>
        </p:nvPicPr>
        <p:blipFill>
          <a:blip r:embed="rId12"/>
          <a:stretch>
            <a:fillRect/>
          </a:stretch>
        </p:blipFill>
        <p:spPr>
          <a:xfrm>
            <a:off x="6382512" y="3319272"/>
            <a:ext cx="365760" cy="365760"/>
          </a:xfrm>
          <a:prstGeom prst="rect">
            <a:avLst/>
          </a:prstGeom>
        </p:spPr>
      </p:pic>
      <p:sp>
        <p:nvSpPr>
          <p:cNvPr id="31" name="Text 20"/>
          <p:cNvSpPr/>
          <p:nvPr/>
        </p:nvSpPr>
        <p:spPr>
          <a:xfrm>
            <a:off x="6839712" y="3355848"/>
            <a:ext cx="1965960" cy="329184"/>
          </a:xfrm>
          <a:prstGeom prst="rect">
            <a:avLst/>
          </a:prstGeom>
          <a:noFill/>
          <a:ln/>
        </p:spPr>
        <p:txBody>
          <a:bodyPr wrap="square" lIns="0" tIns="0" rIns="0" bIns="0" rtlCol="0" anchor="ctr"/>
          <a:lstStyle/>
          <a:p>
            <a:pPr marL="0" indent="0">
              <a:buNone/>
            </a:pPr>
            <a:r>
              <a:rPr lang="en-US" sz="1100" b="1" dirty="0">
                <a:solidFill>
                  <a:srgbClr val="FFFFFF"/>
                </a:solidFill>
              </a:rPr>
              <a:t>Inventory Value Calc</a:t>
            </a:r>
            <a:endParaRPr lang="en-US" sz="1100" dirty="0"/>
          </a:p>
        </p:txBody>
      </p:sp>
      <p:sp>
        <p:nvSpPr>
          <p:cNvPr id="32" name="Shape 21"/>
          <p:cNvSpPr/>
          <p:nvPr/>
        </p:nvSpPr>
        <p:spPr>
          <a:xfrm>
            <a:off x="3456432" y="4023360"/>
            <a:ext cx="2633472" cy="731520"/>
          </a:xfrm>
          <a:prstGeom prst="rect">
            <a:avLst/>
          </a:prstGeom>
          <a:solidFill>
            <a:srgbClr val="001141"/>
          </a:solidFill>
          <a:ln w="12700">
            <a:solidFill>
              <a:srgbClr val="4589FF"/>
            </a:solidFill>
            <a:prstDash val="solid"/>
          </a:ln>
        </p:spPr>
        <p:txBody>
          <a:bodyPr/>
          <a:lstStyle/>
          <a:p>
            <a:endParaRPr lang="en-IN"/>
          </a:p>
        </p:txBody>
      </p:sp>
      <p:sp>
        <p:nvSpPr>
          <p:cNvPr id="33" name="Shape 22"/>
          <p:cNvSpPr/>
          <p:nvPr/>
        </p:nvSpPr>
        <p:spPr>
          <a:xfrm>
            <a:off x="3456432" y="4023360"/>
            <a:ext cx="54864" cy="731520"/>
          </a:xfrm>
          <a:prstGeom prst="rect">
            <a:avLst/>
          </a:prstGeom>
          <a:solidFill>
            <a:srgbClr val="4589FF"/>
          </a:solidFill>
          <a:ln w="12700">
            <a:solidFill>
              <a:srgbClr val="4589FF"/>
            </a:solidFill>
            <a:prstDash val="solid"/>
          </a:ln>
        </p:spPr>
        <p:txBody>
          <a:bodyPr/>
          <a:lstStyle/>
          <a:p>
            <a:endParaRPr lang="en-IN"/>
          </a:p>
        </p:txBody>
      </p:sp>
      <p:pic>
        <p:nvPicPr>
          <p:cNvPr id="34" name="Image 9" descr="preencoded.png"/>
          <p:cNvPicPr>
            <a:picLocks noChangeAspect="1"/>
          </p:cNvPicPr>
          <p:nvPr/>
        </p:nvPicPr>
        <p:blipFill>
          <a:blip r:embed="rId13"/>
          <a:stretch>
            <a:fillRect/>
          </a:stretch>
        </p:blipFill>
        <p:spPr>
          <a:xfrm>
            <a:off x="3593592" y="4187952"/>
            <a:ext cx="365760" cy="365760"/>
          </a:xfrm>
          <a:prstGeom prst="rect">
            <a:avLst/>
          </a:prstGeom>
        </p:spPr>
      </p:pic>
      <p:sp>
        <p:nvSpPr>
          <p:cNvPr id="35" name="Text 23"/>
          <p:cNvSpPr/>
          <p:nvPr/>
        </p:nvSpPr>
        <p:spPr>
          <a:xfrm>
            <a:off x="4050792" y="4224528"/>
            <a:ext cx="1965960" cy="329184"/>
          </a:xfrm>
          <a:prstGeom prst="rect">
            <a:avLst/>
          </a:prstGeom>
          <a:noFill/>
          <a:ln/>
        </p:spPr>
        <p:txBody>
          <a:bodyPr wrap="square" lIns="0" tIns="0" rIns="0" bIns="0" rtlCol="0" anchor="ctr"/>
          <a:lstStyle/>
          <a:p>
            <a:pPr marL="0" indent="0">
              <a:buNone/>
            </a:pPr>
            <a:r>
              <a:rPr lang="en-US" sz="1100" b="1" dirty="0">
                <a:solidFill>
                  <a:srgbClr val="FFFFFF"/>
                </a:solidFill>
              </a:rPr>
              <a:t>Report Export</a:t>
            </a:r>
            <a:endParaRPr lang="en-US" sz="1100" dirty="0"/>
          </a:p>
        </p:txBody>
      </p:sp>
      <p:sp>
        <p:nvSpPr>
          <p:cNvPr id="36" name="Shape 24"/>
          <p:cNvSpPr/>
          <p:nvPr/>
        </p:nvSpPr>
        <p:spPr>
          <a:xfrm>
            <a:off x="6245352" y="4023360"/>
            <a:ext cx="2633472" cy="731520"/>
          </a:xfrm>
          <a:prstGeom prst="rect">
            <a:avLst/>
          </a:prstGeom>
          <a:solidFill>
            <a:srgbClr val="001141"/>
          </a:solidFill>
          <a:ln w="12700">
            <a:solidFill>
              <a:srgbClr val="4589FF"/>
            </a:solidFill>
            <a:prstDash val="solid"/>
          </a:ln>
        </p:spPr>
        <p:txBody>
          <a:bodyPr/>
          <a:lstStyle/>
          <a:p>
            <a:endParaRPr lang="en-IN"/>
          </a:p>
        </p:txBody>
      </p:sp>
      <p:sp>
        <p:nvSpPr>
          <p:cNvPr id="37" name="Shape 25"/>
          <p:cNvSpPr/>
          <p:nvPr/>
        </p:nvSpPr>
        <p:spPr>
          <a:xfrm>
            <a:off x="6245352" y="4023360"/>
            <a:ext cx="54864" cy="731520"/>
          </a:xfrm>
          <a:prstGeom prst="rect">
            <a:avLst/>
          </a:prstGeom>
          <a:solidFill>
            <a:srgbClr val="4589FF"/>
          </a:solidFill>
          <a:ln w="12700">
            <a:solidFill>
              <a:srgbClr val="4589FF"/>
            </a:solidFill>
            <a:prstDash val="solid"/>
          </a:ln>
        </p:spPr>
        <p:txBody>
          <a:bodyPr/>
          <a:lstStyle/>
          <a:p>
            <a:endParaRPr lang="en-IN"/>
          </a:p>
        </p:txBody>
      </p:sp>
      <p:pic>
        <p:nvPicPr>
          <p:cNvPr id="38" name="Image 10" descr="preencoded.png"/>
          <p:cNvPicPr>
            <a:picLocks noChangeAspect="1"/>
          </p:cNvPicPr>
          <p:nvPr/>
        </p:nvPicPr>
        <p:blipFill>
          <a:blip r:embed="rId14"/>
          <a:stretch>
            <a:fillRect/>
          </a:stretch>
        </p:blipFill>
        <p:spPr>
          <a:xfrm>
            <a:off x="6382512" y="4187952"/>
            <a:ext cx="365760" cy="365760"/>
          </a:xfrm>
          <a:prstGeom prst="rect">
            <a:avLst/>
          </a:prstGeom>
        </p:spPr>
      </p:pic>
      <p:sp>
        <p:nvSpPr>
          <p:cNvPr id="39" name="Text 26"/>
          <p:cNvSpPr/>
          <p:nvPr/>
        </p:nvSpPr>
        <p:spPr>
          <a:xfrm>
            <a:off x="6839712" y="4224528"/>
            <a:ext cx="1965960" cy="329184"/>
          </a:xfrm>
          <a:prstGeom prst="rect">
            <a:avLst/>
          </a:prstGeom>
          <a:noFill/>
          <a:ln/>
        </p:spPr>
        <p:txBody>
          <a:bodyPr wrap="square" lIns="0" tIns="0" rIns="0" bIns="0" rtlCol="0" anchor="ctr"/>
          <a:lstStyle/>
          <a:p>
            <a:pPr marL="0" indent="0">
              <a:buNone/>
            </a:pPr>
            <a:r>
              <a:rPr lang="en-US" sz="1100" b="1" dirty="0">
                <a:solidFill>
                  <a:srgbClr val="FFFFFF"/>
                </a:solidFill>
              </a:rPr>
              <a:t>Data Persistence</a:t>
            </a:r>
            <a:endParaRPr lang="en-US" sz="1100" dirty="0"/>
          </a:p>
        </p:txBody>
      </p:sp>
      <p:sp>
        <p:nvSpPr>
          <p:cNvPr id="40" name="Shape 27"/>
          <p:cNvSpPr/>
          <p:nvPr/>
        </p:nvSpPr>
        <p:spPr>
          <a:xfrm>
            <a:off x="73152" y="4798422"/>
            <a:ext cx="8997696" cy="274320"/>
          </a:xfrm>
          <a:prstGeom prst="rect">
            <a:avLst/>
          </a:prstGeom>
          <a:solidFill>
            <a:srgbClr val="001141">
              <a:alpha val="80000"/>
            </a:srgbClr>
          </a:solidFill>
          <a:ln w="12700">
            <a:solidFill>
              <a:srgbClr val="0043CE"/>
            </a:solidFill>
            <a:prstDash val="solid"/>
          </a:ln>
        </p:spPr>
        <p:txBody>
          <a:bodyPr/>
          <a:lstStyle/>
          <a:p>
            <a:endParaRPr lang="en-IN"/>
          </a:p>
        </p:txBody>
      </p:sp>
      <p:sp>
        <p:nvSpPr>
          <p:cNvPr id="41" name="Text 28"/>
          <p:cNvSpPr/>
          <p:nvPr/>
        </p:nvSpPr>
        <p:spPr>
          <a:xfrm>
            <a:off x="91440" y="4783908"/>
            <a:ext cx="8961120" cy="274320"/>
          </a:xfrm>
          <a:prstGeom prst="rect">
            <a:avLst/>
          </a:prstGeom>
          <a:noFill/>
          <a:ln/>
        </p:spPr>
        <p:txBody>
          <a:bodyPr wrap="square" lIns="0" tIns="0" rIns="0" bIns="0" rtlCol="0" anchor="ctr"/>
          <a:lstStyle/>
          <a:p>
            <a:pPr marL="0" indent="0" algn="ctr">
              <a:buNone/>
            </a:pPr>
            <a:r>
              <a:rPr lang="en-US" sz="900" dirty="0">
                <a:solidFill>
                  <a:srgbClr val="4589FF"/>
                </a:solidFill>
              </a:rPr>
              <a:t>IBM SkillsBuild  |  B.Tech CSE (AI &amp; ML)  |  Rajeev Ranjan</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7863840" y="164592"/>
            <a:ext cx="1097280" cy="365760"/>
          </a:xfrm>
          <a:prstGeom prst="rect">
            <a:avLst/>
          </a:prstGeom>
        </p:spPr>
      </p:pic>
      <p:sp>
        <p:nvSpPr>
          <p:cNvPr id="3" name="Shape 0"/>
          <p:cNvSpPr/>
          <p:nvPr/>
        </p:nvSpPr>
        <p:spPr>
          <a:xfrm>
            <a:off x="73152" y="228600"/>
            <a:ext cx="8997696" cy="713232"/>
          </a:xfrm>
          <a:prstGeom prst="rect">
            <a:avLst/>
          </a:prstGeom>
          <a:solidFill>
            <a:srgbClr val="0043CE"/>
          </a:solidFill>
          <a:ln w="12700">
            <a:solidFill>
              <a:srgbClr val="0043CE"/>
            </a:solidFill>
            <a:prstDash val="solid"/>
          </a:ln>
        </p:spPr>
        <p:txBody>
          <a:bodyPr/>
          <a:lstStyle/>
          <a:p>
            <a:endParaRPr lang="en-IN"/>
          </a:p>
        </p:txBody>
      </p:sp>
      <p:pic>
        <p:nvPicPr>
          <p:cNvPr id="4" name="Image 1" descr="preencoded.png"/>
          <p:cNvPicPr>
            <a:picLocks noChangeAspect="1"/>
          </p:cNvPicPr>
          <p:nvPr/>
        </p:nvPicPr>
        <p:blipFill>
          <a:blip r:embed="rId5"/>
          <a:stretch>
            <a:fillRect/>
          </a:stretch>
        </p:blipFill>
        <p:spPr>
          <a:xfrm>
            <a:off x="182880" y="274320"/>
            <a:ext cx="502920" cy="502920"/>
          </a:xfrm>
          <a:prstGeom prst="rect">
            <a:avLst/>
          </a:prstGeom>
        </p:spPr>
      </p:pic>
      <p:sp>
        <p:nvSpPr>
          <p:cNvPr id="5" name="Text 1"/>
          <p:cNvSpPr/>
          <p:nvPr/>
        </p:nvSpPr>
        <p:spPr>
          <a:xfrm>
            <a:off x="822960" y="237744"/>
            <a:ext cx="8046720" cy="694944"/>
          </a:xfrm>
          <a:prstGeom prst="rect">
            <a:avLst/>
          </a:prstGeom>
          <a:noFill/>
          <a:ln/>
        </p:spPr>
        <p:txBody>
          <a:bodyPr wrap="square" lIns="0" tIns="0" rIns="0" bIns="0" rtlCol="0" anchor="ctr"/>
          <a:lstStyle/>
          <a:p>
            <a:pPr marL="0" indent="0" algn="l">
              <a:buNone/>
            </a:pPr>
            <a:r>
              <a:rPr lang="en-US" sz="2800" b="1" dirty="0">
                <a:solidFill>
                  <a:srgbClr val="FFFFFF"/>
                </a:solidFill>
                <a:latin typeface="Arial Black" pitchFamily="34" charset="0"/>
                <a:ea typeface="Arial Black" pitchFamily="34" charset="-122"/>
                <a:cs typeface="Arial Black" pitchFamily="34" charset="-120"/>
              </a:rPr>
              <a:t>Project Demonstration</a:t>
            </a:r>
            <a:endParaRPr lang="en-US" sz="2800" dirty="0"/>
          </a:p>
        </p:txBody>
      </p:sp>
      <p:sp>
        <p:nvSpPr>
          <p:cNvPr id="6" name="Shape 2"/>
          <p:cNvSpPr/>
          <p:nvPr/>
        </p:nvSpPr>
        <p:spPr>
          <a:xfrm>
            <a:off x="274320" y="1078992"/>
            <a:ext cx="4160520" cy="1572768"/>
          </a:xfrm>
          <a:prstGeom prst="rect">
            <a:avLst/>
          </a:prstGeom>
          <a:solidFill>
            <a:srgbClr val="1A1A3E"/>
          </a:solidFill>
          <a:ln w="12700">
            <a:solidFill>
              <a:srgbClr val="0043CE"/>
            </a:solidFill>
            <a:prstDash val="solid"/>
          </a:ln>
          <a:effectLst>
            <a:outerShdw blurRad="101600" dist="38100" dir="8100000" algn="bl" rotWithShape="0">
              <a:srgbClr val="000000">
                <a:alpha val="25000"/>
              </a:srgbClr>
            </a:outerShdw>
          </a:effectLst>
        </p:spPr>
        <p:txBody>
          <a:bodyPr/>
          <a:lstStyle/>
          <a:p>
            <a:endParaRPr lang="en-IN"/>
          </a:p>
        </p:txBody>
      </p:sp>
      <p:sp>
        <p:nvSpPr>
          <p:cNvPr id="7" name="Shape 3"/>
          <p:cNvSpPr/>
          <p:nvPr/>
        </p:nvSpPr>
        <p:spPr>
          <a:xfrm>
            <a:off x="384048" y="1170432"/>
            <a:ext cx="109728" cy="109728"/>
          </a:xfrm>
          <a:prstGeom prst="ellipse">
            <a:avLst/>
          </a:prstGeom>
          <a:solidFill>
            <a:srgbClr val="FF5F57"/>
          </a:solidFill>
          <a:ln w="12700">
            <a:solidFill>
              <a:srgbClr val="FF5F57"/>
            </a:solidFill>
            <a:prstDash val="solid"/>
          </a:ln>
        </p:spPr>
        <p:txBody>
          <a:bodyPr/>
          <a:lstStyle/>
          <a:p>
            <a:endParaRPr lang="en-IN"/>
          </a:p>
        </p:txBody>
      </p:sp>
      <p:sp>
        <p:nvSpPr>
          <p:cNvPr id="8" name="Shape 4"/>
          <p:cNvSpPr/>
          <p:nvPr/>
        </p:nvSpPr>
        <p:spPr>
          <a:xfrm>
            <a:off x="548640" y="1170432"/>
            <a:ext cx="109728" cy="109728"/>
          </a:xfrm>
          <a:prstGeom prst="ellipse">
            <a:avLst/>
          </a:prstGeom>
          <a:solidFill>
            <a:srgbClr val="FFBD2E"/>
          </a:solidFill>
          <a:ln w="12700">
            <a:solidFill>
              <a:srgbClr val="FFBD2E"/>
            </a:solidFill>
            <a:prstDash val="solid"/>
          </a:ln>
        </p:spPr>
        <p:txBody>
          <a:bodyPr/>
          <a:lstStyle/>
          <a:p>
            <a:endParaRPr lang="en-IN"/>
          </a:p>
        </p:txBody>
      </p:sp>
      <p:sp>
        <p:nvSpPr>
          <p:cNvPr id="9" name="Shape 5"/>
          <p:cNvSpPr/>
          <p:nvPr/>
        </p:nvSpPr>
        <p:spPr>
          <a:xfrm>
            <a:off x="713232" y="1170432"/>
            <a:ext cx="109728" cy="109728"/>
          </a:xfrm>
          <a:prstGeom prst="ellipse">
            <a:avLst/>
          </a:prstGeom>
          <a:solidFill>
            <a:srgbClr val="28C840"/>
          </a:solidFill>
          <a:ln w="12700">
            <a:solidFill>
              <a:srgbClr val="28C840"/>
            </a:solidFill>
            <a:prstDash val="solid"/>
          </a:ln>
        </p:spPr>
        <p:txBody>
          <a:bodyPr/>
          <a:lstStyle/>
          <a:p>
            <a:endParaRPr lang="en-IN"/>
          </a:p>
        </p:txBody>
      </p:sp>
      <p:pic>
        <p:nvPicPr>
          <p:cNvPr id="10" name="Image 2"/>
          <p:cNvPicPr>
            <a:picLocks noChangeAspect="1"/>
          </p:cNvPicPr>
          <p:nvPr/>
        </p:nvPicPr>
        <p:blipFill>
          <a:blip r:embed="rId6">
            <a:duotone>
              <a:schemeClr val="accent1">
                <a:shade val="45000"/>
                <a:satMod val="135000"/>
              </a:schemeClr>
              <a:prstClr val="white"/>
            </a:duotone>
            <a:extLst>
              <a:ext uri="{BEBA8EAE-BF5A-486C-A8C5-ECC9F3942E4B}">
                <a14:imgProps xmlns:a14="http://schemas.microsoft.com/office/drawing/2010/main">
                  <a14:imgLayer r:embed="rId7">
                    <a14:imgEffect>
                      <a14:colorTemperature colorTemp="11200"/>
                    </a14:imgEffect>
                  </a14:imgLayer>
                </a14:imgProps>
              </a:ext>
            </a:extLst>
          </a:blip>
          <a:srcRect/>
          <a:stretch/>
        </p:blipFill>
        <p:spPr>
          <a:xfrm>
            <a:off x="313006" y="1126821"/>
            <a:ext cx="4100732" cy="1502430"/>
          </a:xfrm>
          <a:prstGeom prst="rect">
            <a:avLst/>
          </a:prstGeom>
          <a:ln w="38100" cap="sq">
            <a:solidFill>
              <a:srgbClr val="0043CE"/>
            </a:solidFill>
            <a:prstDash val="solid"/>
            <a:miter lim="800000"/>
          </a:ln>
          <a:effectLst>
            <a:outerShdw blurRad="50800" dist="38100" dir="2700000" algn="tl" rotWithShape="0">
              <a:srgbClr val="000000">
                <a:alpha val="43000"/>
              </a:srgbClr>
            </a:outerShdw>
          </a:effectLst>
        </p:spPr>
      </p:pic>
      <p:sp>
        <p:nvSpPr>
          <p:cNvPr id="11" name="Shape 6"/>
          <p:cNvSpPr/>
          <p:nvPr/>
        </p:nvSpPr>
        <p:spPr>
          <a:xfrm>
            <a:off x="274320" y="2679192"/>
            <a:ext cx="4160520" cy="256032"/>
          </a:xfrm>
          <a:prstGeom prst="rect">
            <a:avLst/>
          </a:prstGeom>
          <a:solidFill>
            <a:srgbClr val="0043CE"/>
          </a:solidFill>
          <a:ln w="12700">
            <a:solidFill>
              <a:srgbClr val="0043CE"/>
            </a:solidFill>
            <a:prstDash val="solid"/>
          </a:ln>
        </p:spPr>
        <p:txBody>
          <a:bodyPr/>
          <a:lstStyle/>
          <a:p>
            <a:endParaRPr lang="en-IN"/>
          </a:p>
        </p:txBody>
      </p:sp>
      <p:sp>
        <p:nvSpPr>
          <p:cNvPr id="12" name="Text 7"/>
          <p:cNvSpPr/>
          <p:nvPr/>
        </p:nvSpPr>
        <p:spPr>
          <a:xfrm>
            <a:off x="320040" y="2679192"/>
            <a:ext cx="4069080" cy="256032"/>
          </a:xfrm>
          <a:prstGeom prst="rect">
            <a:avLst/>
          </a:prstGeom>
          <a:noFill/>
          <a:ln/>
        </p:spPr>
        <p:txBody>
          <a:bodyPr wrap="square" lIns="0" tIns="0" rIns="0" bIns="0" rtlCol="0" anchor="ctr"/>
          <a:lstStyle/>
          <a:p>
            <a:pPr marL="0" indent="0" algn="ctr">
              <a:buNone/>
            </a:pPr>
            <a:r>
              <a:rPr lang="en-US" sz="1000" b="1" dirty="0">
                <a:solidFill>
                  <a:srgbClr val="FFFFFF"/>
                </a:solidFill>
              </a:rPr>
              <a:t>Main Menu Screen</a:t>
            </a:r>
            <a:endParaRPr lang="en-US" sz="1000" dirty="0"/>
          </a:p>
        </p:txBody>
      </p:sp>
      <p:sp>
        <p:nvSpPr>
          <p:cNvPr id="13" name="Text 8"/>
          <p:cNvSpPr/>
          <p:nvPr/>
        </p:nvSpPr>
        <p:spPr>
          <a:xfrm>
            <a:off x="274320" y="2953512"/>
            <a:ext cx="4160520" cy="201168"/>
          </a:xfrm>
          <a:prstGeom prst="rect">
            <a:avLst/>
          </a:prstGeom>
          <a:noFill/>
          <a:ln/>
        </p:spPr>
        <p:txBody>
          <a:bodyPr wrap="square" lIns="0" tIns="0" rIns="0" bIns="0" rtlCol="0" anchor="ctr"/>
          <a:lstStyle/>
          <a:p>
            <a:pPr marL="0" indent="0" algn="ctr">
              <a:buNone/>
            </a:pPr>
            <a:r>
              <a:rPr lang="en-US" sz="900" i="1" dirty="0">
                <a:solidFill>
                  <a:srgbClr val="8D8D8D"/>
                </a:solidFill>
              </a:rPr>
              <a:t>Command-line navigation interface</a:t>
            </a:r>
            <a:endParaRPr lang="en-US" sz="900" dirty="0"/>
          </a:p>
        </p:txBody>
      </p:sp>
      <p:sp>
        <p:nvSpPr>
          <p:cNvPr id="14" name="Shape 9"/>
          <p:cNvSpPr/>
          <p:nvPr/>
        </p:nvSpPr>
        <p:spPr>
          <a:xfrm>
            <a:off x="4736592" y="1078992"/>
            <a:ext cx="4160520" cy="1572768"/>
          </a:xfrm>
          <a:prstGeom prst="rect">
            <a:avLst/>
          </a:prstGeom>
          <a:solidFill>
            <a:srgbClr val="1A1A3E"/>
          </a:solidFill>
          <a:ln w="12700">
            <a:solidFill>
              <a:srgbClr val="0043CE"/>
            </a:solidFill>
            <a:prstDash val="solid"/>
          </a:ln>
          <a:effectLst>
            <a:outerShdw blurRad="101600" dist="38100" dir="8100000" algn="bl" rotWithShape="0">
              <a:srgbClr val="000000">
                <a:alpha val="25000"/>
              </a:srgbClr>
            </a:outerShdw>
          </a:effectLst>
        </p:spPr>
        <p:txBody>
          <a:bodyPr/>
          <a:lstStyle/>
          <a:p>
            <a:endParaRPr lang="en-IN"/>
          </a:p>
        </p:txBody>
      </p:sp>
      <p:sp>
        <p:nvSpPr>
          <p:cNvPr id="15" name="Shape 10"/>
          <p:cNvSpPr/>
          <p:nvPr/>
        </p:nvSpPr>
        <p:spPr>
          <a:xfrm>
            <a:off x="4846320" y="1170432"/>
            <a:ext cx="109728" cy="109728"/>
          </a:xfrm>
          <a:prstGeom prst="ellipse">
            <a:avLst/>
          </a:prstGeom>
          <a:solidFill>
            <a:srgbClr val="FF5F57"/>
          </a:solidFill>
          <a:ln w="12700">
            <a:solidFill>
              <a:srgbClr val="FF5F57"/>
            </a:solidFill>
            <a:prstDash val="solid"/>
          </a:ln>
        </p:spPr>
        <p:txBody>
          <a:bodyPr/>
          <a:lstStyle/>
          <a:p>
            <a:endParaRPr lang="en-IN"/>
          </a:p>
        </p:txBody>
      </p:sp>
      <p:sp>
        <p:nvSpPr>
          <p:cNvPr id="16" name="Shape 11"/>
          <p:cNvSpPr/>
          <p:nvPr/>
        </p:nvSpPr>
        <p:spPr>
          <a:xfrm>
            <a:off x="5010912" y="1170432"/>
            <a:ext cx="109728" cy="109728"/>
          </a:xfrm>
          <a:prstGeom prst="ellipse">
            <a:avLst/>
          </a:prstGeom>
          <a:solidFill>
            <a:srgbClr val="FFBD2E"/>
          </a:solidFill>
          <a:ln w="12700">
            <a:solidFill>
              <a:srgbClr val="FFBD2E"/>
            </a:solidFill>
            <a:prstDash val="solid"/>
          </a:ln>
        </p:spPr>
        <p:txBody>
          <a:bodyPr/>
          <a:lstStyle/>
          <a:p>
            <a:endParaRPr lang="en-IN"/>
          </a:p>
        </p:txBody>
      </p:sp>
      <p:sp>
        <p:nvSpPr>
          <p:cNvPr id="17" name="Shape 12"/>
          <p:cNvSpPr/>
          <p:nvPr/>
        </p:nvSpPr>
        <p:spPr>
          <a:xfrm>
            <a:off x="5175504" y="1170432"/>
            <a:ext cx="109728" cy="109728"/>
          </a:xfrm>
          <a:prstGeom prst="ellipse">
            <a:avLst/>
          </a:prstGeom>
          <a:solidFill>
            <a:srgbClr val="28C840"/>
          </a:solidFill>
          <a:ln w="12700">
            <a:solidFill>
              <a:srgbClr val="28C840"/>
            </a:solidFill>
            <a:prstDash val="solid"/>
          </a:ln>
        </p:spPr>
        <p:txBody>
          <a:bodyPr/>
          <a:lstStyle/>
          <a:p>
            <a:endParaRPr lang="en-IN"/>
          </a:p>
        </p:txBody>
      </p:sp>
      <p:pic>
        <p:nvPicPr>
          <p:cNvPr id="18" name="Image 3" descr="preencoded.png"/>
          <p:cNvPicPr>
            <a:picLocks noChangeAspect="1"/>
          </p:cNvPicPr>
          <p:nvPr/>
        </p:nvPicPr>
        <p:blipFill>
          <a:blip r:embed="rId8"/>
          <a:stretch>
            <a:fillRect/>
          </a:stretch>
        </p:blipFill>
        <p:spPr>
          <a:xfrm>
            <a:off x="4782312" y="1316736"/>
            <a:ext cx="4069080" cy="1298448"/>
          </a:xfrm>
          <a:prstGeom prst="rect">
            <a:avLst/>
          </a:prstGeom>
        </p:spPr>
      </p:pic>
      <p:sp>
        <p:nvSpPr>
          <p:cNvPr id="19" name="Shape 13"/>
          <p:cNvSpPr/>
          <p:nvPr/>
        </p:nvSpPr>
        <p:spPr>
          <a:xfrm>
            <a:off x="4736592" y="2679192"/>
            <a:ext cx="4160520" cy="256032"/>
          </a:xfrm>
          <a:prstGeom prst="rect">
            <a:avLst/>
          </a:prstGeom>
          <a:solidFill>
            <a:srgbClr val="0043CE"/>
          </a:solidFill>
          <a:ln w="12700">
            <a:solidFill>
              <a:srgbClr val="0043CE"/>
            </a:solidFill>
            <a:prstDash val="solid"/>
          </a:ln>
        </p:spPr>
        <p:txBody>
          <a:bodyPr/>
          <a:lstStyle/>
          <a:p>
            <a:endParaRPr lang="en-IN"/>
          </a:p>
        </p:txBody>
      </p:sp>
      <p:sp>
        <p:nvSpPr>
          <p:cNvPr id="20" name="Text 14"/>
          <p:cNvSpPr/>
          <p:nvPr/>
        </p:nvSpPr>
        <p:spPr>
          <a:xfrm>
            <a:off x="4782312" y="2679192"/>
            <a:ext cx="4069080" cy="256032"/>
          </a:xfrm>
          <a:prstGeom prst="rect">
            <a:avLst/>
          </a:prstGeom>
          <a:noFill/>
          <a:ln/>
        </p:spPr>
        <p:txBody>
          <a:bodyPr wrap="square" lIns="0" tIns="0" rIns="0" bIns="0" rtlCol="0" anchor="ctr"/>
          <a:lstStyle/>
          <a:p>
            <a:pPr marL="0" indent="0" algn="ctr">
              <a:buNone/>
            </a:pPr>
            <a:r>
              <a:rPr lang="en-US" sz="1000" b="1" dirty="0">
                <a:solidFill>
                  <a:srgbClr val="FFFFFF"/>
                </a:solidFill>
              </a:rPr>
              <a:t>Add Product Screen</a:t>
            </a:r>
            <a:endParaRPr lang="en-US" sz="1000" dirty="0"/>
          </a:p>
        </p:txBody>
      </p:sp>
      <p:sp>
        <p:nvSpPr>
          <p:cNvPr id="21" name="Text 15"/>
          <p:cNvSpPr/>
          <p:nvPr/>
        </p:nvSpPr>
        <p:spPr>
          <a:xfrm>
            <a:off x="4736592" y="2953512"/>
            <a:ext cx="4160520" cy="201168"/>
          </a:xfrm>
          <a:prstGeom prst="rect">
            <a:avLst/>
          </a:prstGeom>
          <a:noFill/>
          <a:ln/>
        </p:spPr>
        <p:txBody>
          <a:bodyPr wrap="square" lIns="0" tIns="0" rIns="0" bIns="0" rtlCol="0" anchor="ctr"/>
          <a:lstStyle/>
          <a:p>
            <a:pPr marL="0" indent="0" algn="ctr">
              <a:buNone/>
            </a:pPr>
            <a:r>
              <a:rPr lang="en-US" sz="900" i="1" dirty="0">
                <a:solidFill>
                  <a:srgbClr val="8D8D8D"/>
                </a:solidFill>
              </a:rPr>
              <a:t>New inventory entry form</a:t>
            </a:r>
            <a:endParaRPr lang="en-US" sz="900" dirty="0"/>
          </a:p>
        </p:txBody>
      </p:sp>
      <p:sp>
        <p:nvSpPr>
          <p:cNvPr id="22" name="Shape 16"/>
          <p:cNvSpPr/>
          <p:nvPr/>
        </p:nvSpPr>
        <p:spPr>
          <a:xfrm>
            <a:off x="274320" y="2999232"/>
            <a:ext cx="4160520" cy="1572768"/>
          </a:xfrm>
          <a:prstGeom prst="rect">
            <a:avLst/>
          </a:prstGeom>
          <a:solidFill>
            <a:srgbClr val="1A1A3E"/>
          </a:solidFill>
          <a:ln w="12700">
            <a:solidFill>
              <a:srgbClr val="0043CE"/>
            </a:solidFill>
            <a:prstDash val="solid"/>
          </a:ln>
          <a:effectLst>
            <a:outerShdw blurRad="101600" dist="38100" dir="8100000" algn="bl" rotWithShape="0">
              <a:srgbClr val="000000">
                <a:alpha val="25000"/>
              </a:srgbClr>
            </a:outerShdw>
          </a:effectLst>
        </p:spPr>
        <p:txBody>
          <a:bodyPr/>
          <a:lstStyle/>
          <a:p>
            <a:endParaRPr lang="en-IN"/>
          </a:p>
        </p:txBody>
      </p:sp>
      <p:sp>
        <p:nvSpPr>
          <p:cNvPr id="23" name="Shape 17"/>
          <p:cNvSpPr/>
          <p:nvPr/>
        </p:nvSpPr>
        <p:spPr>
          <a:xfrm>
            <a:off x="384048" y="3090672"/>
            <a:ext cx="109728" cy="109728"/>
          </a:xfrm>
          <a:prstGeom prst="ellipse">
            <a:avLst/>
          </a:prstGeom>
          <a:solidFill>
            <a:srgbClr val="FF5F57"/>
          </a:solidFill>
          <a:ln w="12700">
            <a:solidFill>
              <a:srgbClr val="FF5F57"/>
            </a:solidFill>
            <a:prstDash val="solid"/>
          </a:ln>
        </p:spPr>
        <p:txBody>
          <a:bodyPr/>
          <a:lstStyle/>
          <a:p>
            <a:endParaRPr lang="en-IN"/>
          </a:p>
        </p:txBody>
      </p:sp>
      <p:sp>
        <p:nvSpPr>
          <p:cNvPr id="24" name="Shape 18"/>
          <p:cNvSpPr/>
          <p:nvPr/>
        </p:nvSpPr>
        <p:spPr>
          <a:xfrm>
            <a:off x="548640" y="3090672"/>
            <a:ext cx="109728" cy="109728"/>
          </a:xfrm>
          <a:prstGeom prst="ellipse">
            <a:avLst/>
          </a:prstGeom>
          <a:solidFill>
            <a:srgbClr val="FFBD2E"/>
          </a:solidFill>
          <a:ln w="12700">
            <a:solidFill>
              <a:srgbClr val="FFBD2E"/>
            </a:solidFill>
            <a:prstDash val="solid"/>
          </a:ln>
        </p:spPr>
        <p:txBody>
          <a:bodyPr/>
          <a:lstStyle/>
          <a:p>
            <a:endParaRPr lang="en-IN"/>
          </a:p>
        </p:txBody>
      </p:sp>
      <p:sp>
        <p:nvSpPr>
          <p:cNvPr id="25" name="Shape 19"/>
          <p:cNvSpPr/>
          <p:nvPr/>
        </p:nvSpPr>
        <p:spPr>
          <a:xfrm>
            <a:off x="713232" y="3090672"/>
            <a:ext cx="109728" cy="109728"/>
          </a:xfrm>
          <a:prstGeom prst="ellipse">
            <a:avLst/>
          </a:prstGeom>
          <a:solidFill>
            <a:srgbClr val="28C840"/>
          </a:solidFill>
          <a:ln w="12700">
            <a:solidFill>
              <a:srgbClr val="28C840"/>
            </a:solidFill>
            <a:prstDash val="solid"/>
          </a:ln>
        </p:spPr>
        <p:txBody>
          <a:bodyPr/>
          <a:lstStyle/>
          <a:p>
            <a:endParaRPr lang="en-IN"/>
          </a:p>
        </p:txBody>
      </p:sp>
      <p:pic>
        <p:nvPicPr>
          <p:cNvPr id="26" name="Image 4" descr="preencoded.png"/>
          <p:cNvPicPr>
            <a:picLocks noChangeAspect="1"/>
          </p:cNvPicPr>
          <p:nvPr/>
        </p:nvPicPr>
        <p:blipFill>
          <a:blip r:embed="rId9"/>
          <a:stretch>
            <a:fillRect/>
          </a:stretch>
        </p:blipFill>
        <p:spPr>
          <a:xfrm>
            <a:off x="320040" y="3236976"/>
            <a:ext cx="4069080" cy="1298448"/>
          </a:xfrm>
          <a:prstGeom prst="rect">
            <a:avLst/>
          </a:prstGeom>
        </p:spPr>
      </p:pic>
      <p:sp>
        <p:nvSpPr>
          <p:cNvPr id="27" name="Shape 20"/>
          <p:cNvSpPr/>
          <p:nvPr/>
        </p:nvSpPr>
        <p:spPr>
          <a:xfrm>
            <a:off x="274320" y="4599432"/>
            <a:ext cx="4160520" cy="256032"/>
          </a:xfrm>
          <a:prstGeom prst="rect">
            <a:avLst/>
          </a:prstGeom>
          <a:solidFill>
            <a:srgbClr val="0043CE"/>
          </a:solidFill>
          <a:ln w="12700">
            <a:solidFill>
              <a:srgbClr val="0043CE"/>
            </a:solidFill>
            <a:prstDash val="solid"/>
          </a:ln>
        </p:spPr>
        <p:txBody>
          <a:bodyPr/>
          <a:lstStyle/>
          <a:p>
            <a:endParaRPr lang="en-IN"/>
          </a:p>
        </p:txBody>
      </p:sp>
      <p:sp>
        <p:nvSpPr>
          <p:cNvPr id="28" name="Text 21"/>
          <p:cNvSpPr/>
          <p:nvPr/>
        </p:nvSpPr>
        <p:spPr>
          <a:xfrm>
            <a:off x="320040" y="4599432"/>
            <a:ext cx="4069080" cy="256032"/>
          </a:xfrm>
          <a:prstGeom prst="rect">
            <a:avLst/>
          </a:prstGeom>
          <a:noFill/>
          <a:ln/>
        </p:spPr>
        <p:txBody>
          <a:bodyPr wrap="square" lIns="0" tIns="0" rIns="0" bIns="0" rtlCol="0" anchor="ctr"/>
          <a:lstStyle/>
          <a:p>
            <a:pPr marL="0" indent="0" algn="ctr">
              <a:buNone/>
            </a:pPr>
            <a:r>
              <a:rPr lang="en-US" sz="1000" b="1" dirty="0">
                <a:solidFill>
                  <a:srgbClr val="FFFFFF"/>
                </a:solidFill>
              </a:rPr>
              <a:t>Inventory Dashboard</a:t>
            </a:r>
            <a:endParaRPr lang="en-US" sz="1000" dirty="0"/>
          </a:p>
        </p:txBody>
      </p:sp>
      <p:sp>
        <p:nvSpPr>
          <p:cNvPr id="29" name="Text 22"/>
          <p:cNvSpPr/>
          <p:nvPr/>
        </p:nvSpPr>
        <p:spPr>
          <a:xfrm>
            <a:off x="274320" y="4873752"/>
            <a:ext cx="4160520" cy="201168"/>
          </a:xfrm>
          <a:prstGeom prst="rect">
            <a:avLst/>
          </a:prstGeom>
          <a:noFill/>
          <a:ln/>
        </p:spPr>
        <p:txBody>
          <a:bodyPr wrap="square" lIns="0" tIns="0" rIns="0" bIns="0" rtlCol="0" anchor="ctr"/>
          <a:lstStyle/>
          <a:p>
            <a:pPr marL="0" indent="0" algn="ctr">
              <a:buNone/>
            </a:pPr>
            <a:endParaRPr lang="en-US" sz="900" dirty="0"/>
          </a:p>
        </p:txBody>
      </p:sp>
      <p:sp>
        <p:nvSpPr>
          <p:cNvPr id="30" name="Shape 23"/>
          <p:cNvSpPr/>
          <p:nvPr/>
        </p:nvSpPr>
        <p:spPr>
          <a:xfrm>
            <a:off x="4736592" y="2999232"/>
            <a:ext cx="4160520" cy="1572768"/>
          </a:xfrm>
          <a:prstGeom prst="rect">
            <a:avLst/>
          </a:prstGeom>
          <a:solidFill>
            <a:srgbClr val="1A1A3E"/>
          </a:solidFill>
          <a:ln w="12700">
            <a:solidFill>
              <a:srgbClr val="0043CE"/>
            </a:solidFill>
            <a:prstDash val="solid"/>
          </a:ln>
          <a:effectLst>
            <a:outerShdw blurRad="101600" dist="38100" dir="8100000" algn="bl" rotWithShape="0">
              <a:srgbClr val="000000">
                <a:alpha val="25000"/>
              </a:srgbClr>
            </a:outerShdw>
          </a:effectLst>
        </p:spPr>
        <p:txBody>
          <a:bodyPr/>
          <a:lstStyle/>
          <a:p>
            <a:endParaRPr lang="en-IN"/>
          </a:p>
        </p:txBody>
      </p:sp>
      <p:sp>
        <p:nvSpPr>
          <p:cNvPr id="31" name="Shape 24"/>
          <p:cNvSpPr/>
          <p:nvPr/>
        </p:nvSpPr>
        <p:spPr>
          <a:xfrm>
            <a:off x="4846320" y="3090672"/>
            <a:ext cx="109728" cy="109728"/>
          </a:xfrm>
          <a:prstGeom prst="ellipse">
            <a:avLst/>
          </a:prstGeom>
          <a:solidFill>
            <a:srgbClr val="FF5F57"/>
          </a:solidFill>
          <a:ln w="12700">
            <a:solidFill>
              <a:srgbClr val="FF5F57"/>
            </a:solidFill>
            <a:prstDash val="solid"/>
          </a:ln>
        </p:spPr>
        <p:txBody>
          <a:bodyPr/>
          <a:lstStyle/>
          <a:p>
            <a:endParaRPr lang="en-IN"/>
          </a:p>
        </p:txBody>
      </p:sp>
      <p:sp>
        <p:nvSpPr>
          <p:cNvPr id="32" name="Shape 25"/>
          <p:cNvSpPr/>
          <p:nvPr/>
        </p:nvSpPr>
        <p:spPr>
          <a:xfrm>
            <a:off x="5010912" y="3090672"/>
            <a:ext cx="109728" cy="109728"/>
          </a:xfrm>
          <a:prstGeom prst="ellipse">
            <a:avLst/>
          </a:prstGeom>
          <a:solidFill>
            <a:srgbClr val="FFBD2E"/>
          </a:solidFill>
          <a:ln w="12700">
            <a:solidFill>
              <a:srgbClr val="FFBD2E"/>
            </a:solidFill>
            <a:prstDash val="solid"/>
          </a:ln>
        </p:spPr>
        <p:txBody>
          <a:bodyPr/>
          <a:lstStyle/>
          <a:p>
            <a:endParaRPr lang="en-IN"/>
          </a:p>
        </p:txBody>
      </p:sp>
      <p:sp>
        <p:nvSpPr>
          <p:cNvPr id="33" name="Shape 26"/>
          <p:cNvSpPr/>
          <p:nvPr/>
        </p:nvSpPr>
        <p:spPr>
          <a:xfrm>
            <a:off x="5175504" y="3090672"/>
            <a:ext cx="109728" cy="109728"/>
          </a:xfrm>
          <a:prstGeom prst="ellipse">
            <a:avLst/>
          </a:prstGeom>
          <a:solidFill>
            <a:srgbClr val="28C840"/>
          </a:solidFill>
          <a:ln w="12700">
            <a:solidFill>
              <a:srgbClr val="28C840"/>
            </a:solidFill>
            <a:prstDash val="solid"/>
          </a:ln>
        </p:spPr>
        <p:txBody>
          <a:bodyPr/>
          <a:lstStyle/>
          <a:p>
            <a:endParaRPr lang="en-IN"/>
          </a:p>
        </p:txBody>
      </p:sp>
      <p:pic>
        <p:nvPicPr>
          <p:cNvPr id="34" name="Image 5" descr="preencoded.png"/>
          <p:cNvPicPr>
            <a:picLocks noChangeAspect="1"/>
          </p:cNvPicPr>
          <p:nvPr/>
        </p:nvPicPr>
        <p:blipFill>
          <a:blip r:embed="rId10"/>
          <a:stretch>
            <a:fillRect/>
          </a:stretch>
        </p:blipFill>
        <p:spPr>
          <a:xfrm>
            <a:off x="4782312" y="3236976"/>
            <a:ext cx="4069080" cy="1298448"/>
          </a:xfrm>
          <a:prstGeom prst="rect">
            <a:avLst/>
          </a:prstGeom>
        </p:spPr>
      </p:pic>
      <p:sp>
        <p:nvSpPr>
          <p:cNvPr id="35" name="Shape 27"/>
          <p:cNvSpPr/>
          <p:nvPr/>
        </p:nvSpPr>
        <p:spPr>
          <a:xfrm>
            <a:off x="4736592" y="4599432"/>
            <a:ext cx="4160520" cy="256032"/>
          </a:xfrm>
          <a:prstGeom prst="rect">
            <a:avLst/>
          </a:prstGeom>
          <a:solidFill>
            <a:srgbClr val="0043CE"/>
          </a:solidFill>
          <a:ln w="12700">
            <a:solidFill>
              <a:srgbClr val="0043CE"/>
            </a:solidFill>
            <a:prstDash val="solid"/>
          </a:ln>
        </p:spPr>
        <p:txBody>
          <a:bodyPr/>
          <a:lstStyle/>
          <a:p>
            <a:endParaRPr lang="en-IN"/>
          </a:p>
        </p:txBody>
      </p:sp>
      <p:sp>
        <p:nvSpPr>
          <p:cNvPr id="36" name="Text 28"/>
          <p:cNvSpPr/>
          <p:nvPr/>
        </p:nvSpPr>
        <p:spPr>
          <a:xfrm>
            <a:off x="4782312" y="4599432"/>
            <a:ext cx="4069080" cy="256032"/>
          </a:xfrm>
          <a:prstGeom prst="rect">
            <a:avLst/>
          </a:prstGeom>
          <a:noFill/>
          <a:ln/>
        </p:spPr>
        <p:txBody>
          <a:bodyPr wrap="square" lIns="0" tIns="0" rIns="0" bIns="0" rtlCol="0" anchor="ctr"/>
          <a:lstStyle/>
          <a:p>
            <a:pPr marL="0" indent="0" algn="ctr">
              <a:buNone/>
            </a:pPr>
            <a:r>
              <a:rPr lang="en-US" sz="1000" b="1" dirty="0">
                <a:solidFill>
                  <a:srgbClr val="FFFFFF"/>
                </a:solidFill>
              </a:rPr>
              <a:t>Low Stock Alert</a:t>
            </a:r>
            <a:endParaRPr lang="en-US" sz="1000" dirty="0"/>
          </a:p>
        </p:txBody>
      </p:sp>
      <p:sp>
        <p:nvSpPr>
          <p:cNvPr id="37" name="Text 29"/>
          <p:cNvSpPr/>
          <p:nvPr/>
        </p:nvSpPr>
        <p:spPr>
          <a:xfrm>
            <a:off x="4736592" y="4873752"/>
            <a:ext cx="4160520" cy="201168"/>
          </a:xfrm>
          <a:prstGeom prst="rect">
            <a:avLst/>
          </a:prstGeom>
          <a:noFill/>
          <a:ln/>
        </p:spPr>
        <p:txBody>
          <a:bodyPr wrap="square" lIns="0" tIns="0" rIns="0" bIns="0" rtlCol="0" anchor="ctr"/>
          <a:lstStyle/>
          <a:p>
            <a:pPr marL="0" indent="0" algn="ctr">
              <a:buNone/>
            </a:pPr>
            <a:endParaRPr lang="en-US" sz="900" dirty="0"/>
          </a:p>
        </p:txBody>
      </p:sp>
      <p:sp>
        <p:nvSpPr>
          <p:cNvPr id="38" name="Shape 30"/>
          <p:cNvSpPr/>
          <p:nvPr/>
        </p:nvSpPr>
        <p:spPr>
          <a:xfrm>
            <a:off x="91440" y="4875198"/>
            <a:ext cx="8997696" cy="256032"/>
          </a:xfrm>
          <a:prstGeom prst="rect">
            <a:avLst/>
          </a:prstGeom>
          <a:solidFill>
            <a:srgbClr val="0043CE">
              <a:alpha val="15000"/>
            </a:srgbClr>
          </a:solidFill>
          <a:ln w="12700">
            <a:solidFill>
              <a:srgbClr val="0043CE"/>
            </a:solidFill>
            <a:prstDash val="solid"/>
          </a:ln>
        </p:spPr>
        <p:txBody>
          <a:bodyPr/>
          <a:lstStyle/>
          <a:p>
            <a:endParaRPr lang="en-IN" dirty="0"/>
          </a:p>
        </p:txBody>
      </p:sp>
      <p:sp>
        <p:nvSpPr>
          <p:cNvPr id="39" name="Text 31"/>
          <p:cNvSpPr/>
          <p:nvPr/>
        </p:nvSpPr>
        <p:spPr>
          <a:xfrm>
            <a:off x="91440" y="4858656"/>
            <a:ext cx="8961120" cy="256032"/>
          </a:xfrm>
          <a:prstGeom prst="rect">
            <a:avLst/>
          </a:prstGeom>
          <a:noFill/>
          <a:ln/>
        </p:spPr>
        <p:txBody>
          <a:bodyPr wrap="square" lIns="0" tIns="0" rIns="0" bIns="0" rtlCol="0" anchor="ctr"/>
          <a:lstStyle/>
          <a:p>
            <a:pPr marL="0" indent="0" algn="ctr">
              <a:buNone/>
            </a:pPr>
            <a:r>
              <a:rPr lang="en-US" sz="900" dirty="0">
                <a:solidFill>
                  <a:srgbClr val="0043CE"/>
                </a:solidFill>
              </a:rPr>
              <a:t>IBM SkillsBuild  |  B.Tech CSE (AI &amp; ML)  |  Rajeev Ranjan</a:t>
            </a:r>
            <a:endParaRPr lang="en-US" sz="900" dirty="0"/>
          </a:p>
        </p:txBody>
      </p:sp>
      <p:pic>
        <p:nvPicPr>
          <p:cNvPr id="41" name="Picture 40">
            <a:extLst>
              <a:ext uri="{FF2B5EF4-FFF2-40B4-BE49-F238E27FC236}">
                <a16:creationId xmlns:a16="http://schemas.microsoft.com/office/drawing/2014/main" id="{6DA65180-EDDC-FE39-F449-A216E148A9CA}"/>
              </a:ext>
            </a:extLst>
          </p:cNvPr>
          <p:cNvPicPr>
            <a:picLocks noChangeAspect="1"/>
          </p:cNvPicPr>
          <p:nvPr/>
        </p:nvPicPr>
        <p:blipFill>
          <a:blip r:embed="rId11">
            <a:duotone>
              <a:schemeClr val="accent1">
                <a:shade val="45000"/>
                <a:satMod val="135000"/>
              </a:schemeClr>
              <a:prstClr val="white"/>
            </a:duotone>
          </a:blip>
          <a:stretch>
            <a:fillRect/>
          </a:stretch>
        </p:blipFill>
        <p:spPr>
          <a:xfrm>
            <a:off x="4768243" y="1112311"/>
            <a:ext cx="4101737" cy="1509907"/>
          </a:xfrm>
          <a:prstGeom prst="rect">
            <a:avLst/>
          </a:prstGeom>
          <a:ln w="38100" cap="sq">
            <a:solidFill>
              <a:srgbClr val="0043CE"/>
            </a:solidFill>
            <a:prstDash val="solid"/>
            <a:miter lim="800000"/>
          </a:ln>
          <a:effectLst>
            <a:outerShdw blurRad="50800" dist="38100" dir="2700000" algn="tl" rotWithShape="0">
              <a:srgbClr val="000000">
                <a:alpha val="43000"/>
              </a:srgbClr>
            </a:outerShdw>
          </a:effectLst>
        </p:spPr>
      </p:pic>
      <p:pic>
        <p:nvPicPr>
          <p:cNvPr id="43" name="Picture 42">
            <a:extLst>
              <a:ext uri="{FF2B5EF4-FFF2-40B4-BE49-F238E27FC236}">
                <a16:creationId xmlns:a16="http://schemas.microsoft.com/office/drawing/2014/main" id="{C2B5531B-2189-1202-470B-6D6B76471731}"/>
              </a:ext>
            </a:extLst>
          </p:cNvPr>
          <p:cNvPicPr>
            <a:picLocks noChangeAspect="1"/>
          </p:cNvPicPr>
          <p:nvPr/>
        </p:nvPicPr>
        <p:blipFill>
          <a:blip r:embed="rId12">
            <a:duotone>
              <a:schemeClr val="accent1">
                <a:shade val="45000"/>
                <a:satMod val="135000"/>
              </a:schemeClr>
              <a:prstClr val="white"/>
            </a:duotone>
          </a:blip>
          <a:stretch>
            <a:fillRect/>
          </a:stretch>
        </p:blipFill>
        <p:spPr>
          <a:xfrm>
            <a:off x="295422" y="3042138"/>
            <a:ext cx="4118316" cy="1529862"/>
          </a:xfrm>
          <a:prstGeom prst="rect">
            <a:avLst/>
          </a:prstGeom>
          <a:ln w="38100" cap="sq">
            <a:solidFill>
              <a:srgbClr val="0043CE"/>
            </a:solidFill>
            <a:prstDash val="solid"/>
            <a:miter lim="800000"/>
          </a:ln>
          <a:effectLst>
            <a:outerShdw blurRad="50800" dist="38100" dir="2700000" algn="tl" rotWithShape="0">
              <a:srgbClr val="000000">
                <a:alpha val="43000"/>
              </a:srgbClr>
            </a:outerShdw>
          </a:effectLst>
        </p:spPr>
      </p:pic>
      <p:pic>
        <p:nvPicPr>
          <p:cNvPr id="45" name="Picture 44">
            <a:extLst>
              <a:ext uri="{FF2B5EF4-FFF2-40B4-BE49-F238E27FC236}">
                <a16:creationId xmlns:a16="http://schemas.microsoft.com/office/drawing/2014/main" id="{2D35853B-179F-6F55-63E9-29EE7281DE7D}"/>
              </a:ext>
            </a:extLst>
          </p:cNvPr>
          <p:cNvPicPr>
            <a:picLocks noChangeAspect="1"/>
          </p:cNvPicPr>
          <p:nvPr/>
        </p:nvPicPr>
        <p:blipFill>
          <a:blip r:embed="rId13">
            <a:duotone>
              <a:schemeClr val="accent1">
                <a:shade val="45000"/>
                <a:satMod val="135000"/>
              </a:schemeClr>
              <a:prstClr val="white"/>
            </a:duotone>
          </a:blip>
          <a:srcRect r="35149"/>
          <a:stretch>
            <a:fillRect/>
          </a:stretch>
        </p:blipFill>
        <p:spPr>
          <a:xfrm>
            <a:off x="4761209" y="3042138"/>
            <a:ext cx="4108471" cy="1520718"/>
          </a:xfrm>
          <a:prstGeom prst="rect">
            <a:avLst/>
          </a:prstGeom>
          <a:ln w="38100" cap="sq">
            <a:solidFill>
              <a:srgbClr val="0043CE"/>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73152" y="228600"/>
            <a:ext cx="8933688" cy="713232"/>
          </a:xfrm>
          <a:prstGeom prst="rect">
            <a:avLst/>
          </a:prstGeom>
          <a:solidFill>
            <a:srgbClr val="0043CE"/>
          </a:solidFill>
          <a:ln w="12700">
            <a:solidFill>
              <a:srgbClr val="0043CE"/>
            </a:solidFill>
            <a:prstDash val="solid"/>
          </a:ln>
        </p:spPr>
        <p:txBody>
          <a:bodyPr/>
          <a:lstStyle/>
          <a:p>
            <a:endParaRPr lang="en-IN"/>
          </a:p>
        </p:txBody>
      </p:sp>
      <p:pic>
        <p:nvPicPr>
          <p:cNvPr id="4" name="Image 1" descr="preencoded.png"/>
          <p:cNvPicPr>
            <a:picLocks noChangeAspect="1"/>
          </p:cNvPicPr>
          <p:nvPr/>
        </p:nvPicPr>
        <p:blipFill>
          <a:blip r:embed="rId4"/>
          <a:stretch>
            <a:fillRect/>
          </a:stretch>
        </p:blipFill>
        <p:spPr>
          <a:xfrm>
            <a:off x="182880" y="274320"/>
            <a:ext cx="502920" cy="502920"/>
          </a:xfrm>
          <a:prstGeom prst="rect">
            <a:avLst/>
          </a:prstGeom>
        </p:spPr>
      </p:pic>
      <p:sp>
        <p:nvSpPr>
          <p:cNvPr id="5" name="Text 1"/>
          <p:cNvSpPr/>
          <p:nvPr/>
        </p:nvSpPr>
        <p:spPr>
          <a:xfrm>
            <a:off x="822960" y="237744"/>
            <a:ext cx="8046720" cy="694944"/>
          </a:xfrm>
          <a:prstGeom prst="rect">
            <a:avLst/>
          </a:prstGeom>
          <a:noFill/>
          <a:ln/>
        </p:spPr>
        <p:txBody>
          <a:bodyPr wrap="square" lIns="0" tIns="0" rIns="0" bIns="0" rtlCol="0" anchor="ctr"/>
          <a:lstStyle/>
          <a:p>
            <a:pPr marL="0" indent="0" algn="l">
              <a:buNone/>
            </a:pPr>
            <a:r>
              <a:rPr lang="en-US" sz="2600" b="1" dirty="0">
                <a:solidFill>
                  <a:srgbClr val="FFFFFF"/>
                </a:solidFill>
                <a:latin typeface="Arial Black" pitchFamily="34" charset="0"/>
                <a:ea typeface="Arial Black" pitchFamily="34" charset="-122"/>
                <a:cs typeface="Arial Black" pitchFamily="34" charset="-120"/>
              </a:rPr>
              <a:t>Conclusion and Future Scope</a:t>
            </a:r>
            <a:endParaRPr lang="en-US" sz="2600" dirty="0"/>
          </a:p>
        </p:txBody>
      </p:sp>
      <p:sp>
        <p:nvSpPr>
          <p:cNvPr id="6" name="Shape 2"/>
          <p:cNvSpPr/>
          <p:nvPr/>
        </p:nvSpPr>
        <p:spPr>
          <a:xfrm>
            <a:off x="137160" y="1005840"/>
            <a:ext cx="4206240" cy="320040"/>
          </a:xfrm>
          <a:prstGeom prst="rect">
            <a:avLst/>
          </a:prstGeom>
          <a:solidFill>
            <a:srgbClr val="0043CE"/>
          </a:solidFill>
          <a:ln w="12700">
            <a:solidFill>
              <a:srgbClr val="0043CE"/>
            </a:solidFill>
            <a:prstDash val="solid"/>
          </a:ln>
        </p:spPr>
        <p:txBody>
          <a:bodyPr/>
          <a:lstStyle/>
          <a:p>
            <a:endParaRPr lang="en-IN"/>
          </a:p>
        </p:txBody>
      </p:sp>
      <p:sp>
        <p:nvSpPr>
          <p:cNvPr id="7" name="Text 3"/>
          <p:cNvSpPr/>
          <p:nvPr/>
        </p:nvSpPr>
        <p:spPr>
          <a:xfrm>
            <a:off x="137160" y="1005840"/>
            <a:ext cx="4206240" cy="320040"/>
          </a:xfrm>
          <a:prstGeom prst="rect">
            <a:avLst/>
          </a:prstGeom>
          <a:noFill/>
          <a:ln/>
        </p:spPr>
        <p:txBody>
          <a:bodyPr wrap="square" lIns="0" tIns="0" rIns="0" bIns="0" rtlCol="0" anchor="ctr"/>
          <a:lstStyle/>
          <a:p>
            <a:pPr marL="0" indent="0" algn="ctr">
              <a:buNone/>
            </a:pPr>
            <a:r>
              <a:rPr lang="en-US" sz="1200" b="1" dirty="0">
                <a:solidFill>
                  <a:srgbClr val="FFFFFF"/>
                </a:solidFill>
              </a:rPr>
              <a:t>CONCLUSION</a:t>
            </a:r>
            <a:endParaRPr lang="en-US" sz="1200" dirty="0"/>
          </a:p>
        </p:txBody>
      </p:sp>
      <p:sp>
        <p:nvSpPr>
          <p:cNvPr id="8" name="Shape 4"/>
          <p:cNvSpPr/>
          <p:nvPr/>
        </p:nvSpPr>
        <p:spPr>
          <a:xfrm>
            <a:off x="137160" y="1417320"/>
            <a:ext cx="4206240" cy="548640"/>
          </a:xfrm>
          <a:prstGeom prst="rect">
            <a:avLst/>
          </a:prstGeom>
          <a:solidFill>
            <a:srgbClr val="001141"/>
          </a:solidFill>
          <a:ln w="12700">
            <a:solidFill>
              <a:srgbClr val="0043CE"/>
            </a:solidFill>
            <a:prstDash val="solid"/>
          </a:ln>
        </p:spPr>
        <p:txBody>
          <a:bodyPr/>
          <a:lstStyle/>
          <a:p>
            <a:endParaRPr lang="en-IN"/>
          </a:p>
        </p:txBody>
      </p:sp>
      <p:pic>
        <p:nvPicPr>
          <p:cNvPr id="9" name="Image 2" descr="preencoded.png"/>
          <p:cNvPicPr>
            <a:picLocks noChangeAspect="1"/>
          </p:cNvPicPr>
          <p:nvPr/>
        </p:nvPicPr>
        <p:blipFill>
          <a:blip r:embed="rId5"/>
          <a:stretch>
            <a:fillRect/>
          </a:stretch>
        </p:blipFill>
        <p:spPr>
          <a:xfrm>
            <a:off x="256032" y="1508760"/>
            <a:ext cx="347472" cy="347472"/>
          </a:xfrm>
          <a:prstGeom prst="rect">
            <a:avLst/>
          </a:prstGeom>
        </p:spPr>
      </p:pic>
      <p:sp>
        <p:nvSpPr>
          <p:cNvPr id="10" name="Text 5"/>
          <p:cNvSpPr/>
          <p:nvPr/>
        </p:nvSpPr>
        <p:spPr>
          <a:xfrm>
            <a:off x="685800" y="1508760"/>
            <a:ext cx="3566160" cy="347472"/>
          </a:xfrm>
          <a:prstGeom prst="rect">
            <a:avLst/>
          </a:prstGeom>
          <a:noFill/>
          <a:ln/>
        </p:spPr>
        <p:txBody>
          <a:bodyPr wrap="square" lIns="0" tIns="0" rIns="0" bIns="0" rtlCol="0" anchor="ctr"/>
          <a:lstStyle/>
          <a:p>
            <a:pPr marL="0" indent="0">
              <a:buNone/>
            </a:pPr>
            <a:r>
              <a:rPr lang="en-US" sz="1050" dirty="0">
                <a:solidFill>
                  <a:srgbClr val="FFFFFF"/>
                </a:solidFill>
              </a:rPr>
              <a:t>Successfully developed a smart inventory tracking solution</a:t>
            </a:r>
            <a:endParaRPr lang="en-US" sz="1050" dirty="0"/>
          </a:p>
        </p:txBody>
      </p:sp>
      <p:sp>
        <p:nvSpPr>
          <p:cNvPr id="11" name="Shape 6"/>
          <p:cNvSpPr/>
          <p:nvPr/>
        </p:nvSpPr>
        <p:spPr>
          <a:xfrm>
            <a:off x="137160" y="2103120"/>
            <a:ext cx="4206240" cy="548640"/>
          </a:xfrm>
          <a:prstGeom prst="rect">
            <a:avLst/>
          </a:prstGeom>
          <a:solidFill>
            <a:srgbClr val="001141"/>
          </a:solidFill>
          <a:ln w="12700">
            <a:solidFill>
              <a:srgbClr val="0043CE"/>
            </a:solidFill>
            <a:prstDash val="solid"/>
          </a:ln>
        </p:spPr>
        <p:txBody>
          <a:bodyPr/>
          <a:lstStyle/>
          <a:p>
            <a:endParaRPr lang="en-IN"/>
          </a:p>
        </p:txBody>
      </p:sp>
      <p:pic>
        <p:nvPicPr>
          <p:cNvPr id="12" name="Image 3" descr="preencoded.png"/>
          <p:cNvPicPr>
            <a:picLocks noChangeAspect="1"/>
          </p:cNvPicPr>
          <p:nvPr/>
        </p:nvPicPr>
        <p:blipFill>
          <a:blip r:embed="rId6"/>
          <a:stretch>
            <a:fillRect/>
          </a:stretch>
        </p:blipFill>
        <p:spPr>
          <a:xfrm>
            <a:off x="256032" y="2194560"/>
            <a:ext cx="347472" cy="347472"/>
          </a:xfrm>
          <a:prstGeom prst="rect">
            <a:avLst/>
          </a:prstGeom>
        </p:spPr>
      </p:pic>
      <p:sp>
        <p:nvSpPr>
          <p:cNvPr id="13" name="Text 7"/>
          <p:cNvSpPr/>
          <p:nvPr/>
        </p:nvSpPr>
        <p:spPr>
          <a:xfrm>
            <a:off x="685800" y="2194560"/>
            <a:ext cx="3566160" cy="347472"/>
          </a:xfrm>
          <a:prstGeom prst="rect">
            <a:avLst/>
          </a:prstGeom>
          <a:noFill/>
          <a:ln/>
        </p:spPr>
        <p:txBody>
          <a:bodyPr wrap="square" lIns="0" tIns="0" rIns="0" bIns="0" rtlCol="0" anchor="ctr"/>
          <a:lstStyle/>
          <a:p>
            <a:pPr marL="0" indent="0">
              <a:buNone/>
            </a:pPr>
            <a:r>
              <a:rPr lang="en-US" sz="1050" dirty="0">
                <a:solidFill>
                  <a:srgbClr val="FFFFFF"/>
                </a:solidFill>
              </a:rPr>
              <a:t>Improved inventory visibility and real-time stock monitoring</a:t>
            </a:r>
            <a:endParaRPr lang="en-US" sz="1050" dirty="0"/>
          </a:p>
        </p:txBody>
      </p:sp>
      <p:sp>
        <p:nvSpPr>
          <p:cNvPr id="14" name="Shape 8"/>
          <p:cNvSpPr/>
          <p:nvPr/>
        </p:nvSpPr>
        <p:spPr>
          <a:xfrm>
            <a:off x="137160" y="2788920"/>
            <a:ext cx="4206240" cy="548640"/>
          </a:xfrm>
          <a:prstGeom prst="rect">
            <a:avLst/>
          </a:prstGeom>
          <a:solidFill>
            <a:srgbClr val="001141"/>
          </a:solidFill>
          <a:ln w="12700">
            <a:solidFill>
              <a:srgbClr val="0043CE"/>
            </a:solidFill>
            <a:prstDash val="solid"/>
          </a:ln>
        </p:spPr>
        <p:txBody>
          <a:bodyPr/>
          <a:lstStyle/>
          <a:p>
            <a:endParaRPr lang="en-IN"/>
          </a:p>
        </p:txBody>
      </p:sp>
      <p:pic>
        <p:nvPicPr>
          <p:cNvPr id="15" name="Image 4" descr="preencoded.png"/>
          <p:cNvPicPr>
            <a:picLocks noChangeAspect="1"/>
          </p:cNvPicPr>
          <p:nvPr/>
        </p:nvPicPr>
        <p:blipFill>
          <a:blip r:embed="rId7"/>
          <a:stretch>
            <a:fillRect/>
          </a:stretch>
        </p:blipFill>
        <p:spPr>
          <a:xfrm>
            <a:off x="256032" y="2880360"/>
            <a:ext cx="347472" cy="347472"/>
          </a:xfrm>
          <a:prstGeom prst="rect">
            <a:avLst/>
          </a:prstGeom>
        </p:spPr>
      </p:pic>
      <p:sp>
        <p:nvSpPr>
          <p:cNvPr id="16" name="Text 9"/>
          <p:cNvSpPr/>
          <p:nvPr/>
        </p:nvSpPr>
        <p:spPr>
          <a:xfrm>
            <a:off x="685800" y="2880360"/>
            <a:ext cx="3566160" cy="347472"/>
          </a:xfrm>
          <a:prstGeom prst="rect">
            <a:avLst/>
          </a:prstGeom>
          <a:noFill/>
          <a:ln/>
        </p:spPr>
        <p:txBody>
          <a:bodyPr wrap="square" lIns="0" tIns="0" rIns="0" bIns="0" rtlCol="0" anchor="ctr"/>
          <a:lstStyle/>
          <a:p>
            <a:pPr marL="0" indent="0">
              <a:buNone/>
            </a:pPr>
            <a:r>
              <a:rPr lang="en-US" sz="1050" dirty="0">
                <a:solidFill>
                  <a:srgbClr val="FFFFFF"/>
                </a:solidFill>
              </a:rPr>
              <a:t>Applied Object-Oriented Programming concepts effectively</a:t>
            </a:r>
            <a:endParaRPr lang="en-US" sz="1050" dirty="0"/>
          </a:p>
        </p:txBody>
      </p:sp>
      <p:sp>
        <p:nvSpPr>
          <p:cNvPr id="17" name="Shape 10"/>
          <p:cNvSpPr/>
          <p:nvPr/>
        </p:nvSpPr>
        <p:spPr>
          <a:xfrm>
            <a:off x="137160" y="3474720"/>
            <a:ext cx="4206240" cy="548640"/>
          </a:xfrm>
          <a:prstGeom prst="rect">
            <a:avLst/>
          </a:prstGeom>
          <a:solidFill>
            <a:srgbClr val="001141"/>
          </a:solidFill>
          <a:ln w="12700">
            <a:solidFill>
              <a:srgbClr val="0043CE"/>
            </a:solidFill>
            <a:prstDash val="solid"/>
          </a:ln>
        </p:spPr>
        <p:txBody>
          <a:bodyPr/>
          <a:lstStyle/>
          <a:p>
            <a:endParaRPr lang="en-IN"/>
          </a:p>
        </p:txBody>
      </p:sp>
      <p:pic>
        <p:nvPicPr>
          <p:cNvPr id="18" name="Image 5" descr="preencoded.png"/>
          <p:cNvPicPr>
            <a:picLocks noChangeAspect="1"/>
          </p:cNvPicPr>
          <p:nvPr/>
        </p:nvPicPr>
        <p:blipFill>
          <a:blip r:embed="rId8"/>
          <a:stretch>
            <a:fillRect/>
          </a:stretch>
        </p:blipFill>
        <p:spPr>
          <a:xfrm>
            <a:off x="256032" y="3566160"/>
            <a:ext cx="347472" cy="347472"/>
          </a:xfrm>
          <a:prstGeom prst="rect">
            <a:avLst/>
          </a:prstGeom>
        </p:spPr>
      </p:pic>
      <p:sp>
        <p:nvSpPr>
          <p:cNvPr id="19" name="Text 11"/>
          <p:cNvSpPr/>
          <p:nvPr/>
        </p:nvSpPr>
        <p:spPr>
          <a:xfrm>
            <a:off x="685800" y="3566160"/>
            <a:ext cx="3566160" cy="347472"/>
          </a:xfrm>
          <a:prstGeom prst="rect">
            <a:avLst/>
          </a:prstGeom>
          <a:noFill/>
          <a:ln/>
        </p:spPr>
        <p:txBody>
          <a:bodyPr wrap="square" lIns="0" tIns="0" rIns="0" bIns="0" rtlCol="0" anchor="ctr"/>
          <a:lstStyle/>
          <a:p>
            <a:pPr marL="0" indent="0">
              <a:buNone/>
            </a:pPr>
            <a:r>
              <a:rPr lang="en-US" sz="1050" dirty="0">
                <a:solidFill>
                  <a:srgbClr val="FFFFFF"/>
                </a:solidFill>
              </a:rPr>
              <a:t>Demonstrated AI-driven automation in warehouse systems</a:t>
            </a:r>
            <a:endParaRPr lang="en-US" sz="1050" dirty="0"/>
          </a:p>
        </p:txBody>
      </p:sp>
      <p:sp>
        <p:nvSpPr>
          <p:cNvPr id="20" name="Shape 12"/>
          <p:cNvSpPr/>
          <p:nvPr/>
        </p:nvSpPr>
        <p:spPr>
          <a:xfrm>
            <a:off x="4572000" y="1005840"/>
            <a:ext cx="4434840" cy="320040"/>
          </a:xfrm>
          <a:prstGeom prst="rect">
            <a:avLst/>
          </a:prstGeom>
          <a:solidFill>
            <a:srgbClr val="0072C3"/>
          </a:solidFill>
          <a:ln w="12700">
            <a:solidFill>
              <a:srgbClr val="0072C3"/>
            </a:solidFill>
            <a:prstDash val="solid"/>
          </a:ln>
        </p:spPr>
        <p:txBody>
          <a:bodyPr/>
          <a:lstStyle/>
          <a:p>
            <a:endParaRPr lang="en-IN"/>
          </a:p>
        </p:txBody>
      </p:sp>
      <p:sp>
        <p:nvSpPr>
          <p:cNvPr id="21" name="Text 13"/>
          <p:cNvSpPr/>
          <p:nvPr/>
        </p:nvSpPr>
        <p:spPr>
          <a:xfrm>
            <a:off x="4572000" y="1005840"/>
            <a:ext cx="4434840" cy="320040"/>
          </a:xfrm>
          <a:prstGeom prst="rect">
            <a:avLst/>
          </a:prstGeom>
          <a:noFill/>
          <a:ln/>
        </p:spPr>
        <p:txBody>
          <a:bodyPr wrap="square" lIns="0" tIns="0" rIns="0" bIns="0" rtlCol="0" anchor="ctr"/>
          <a:lstStyle/>
          <a:p>
            <a:pPr marL="0" indent="0" algn="ctr">
              <a:buNone/>
            </a:pPr>
            <a:r>
              <a:rPr lang="en-US" sz="1200" b="1" dirty="0">
                <a:solidFill>
                  <a:srgbClr val="FFFFFF"/>
                </a:solidFill>
              </a:rPr>
              <a:t>FUTURE SCOPE</a:t>
            </a:r>
            <a:endParaRPr lang="en-US" sz="1200" dirty="0"/>
          </a:p>
        </p:txBody>
      </p:sp>
      <p:sp>
        <p:nvSpPr>
          <p:cNvPr id="22" name="Shape 14"/>
          <p:cNvSpPr/>
          <p:nvPr/>
        </p:nvSpPr>
        <p:spPr>
          <a:xfrm>
            <a:off x="4572000" y="1417320"/>
            <a:ext cx="4434840" cy="384048"/>
          </a:xfrm>
          <a:prstGeom prst="rect">
            <a:avLst/>
          </a:prstGeom>
          <a:solidFill>
            <a:srgbClr val="001141"/>
          </a:solidFill>
          <a:ln w="12700">
            <a:solidFill>
              <a:srgbClr val="0072C3"/>
            </a:solidFill>
            <a:prstDash val="solid"/>
          </a:ln>
        </p:spPr>
        <p:txBody>
          <a:bodyPr/>
          <a:lstStyle/>
          <a:p>
            <a:endParaRPr lang="en-IN"/>
          </a:p>
        </p:txBody>
      </p:sp>
      <p:pic>
        <p:nvPicPr>
          <p:cNvPr id="23" name="Image 6" descr="preencoded.png"/>
          <p:cNvPicPr>
            <a:picLocks noChangeAspect="1"/>
          </p:cNvPicPr>
          <p:nvPr/>
        </p:nvPicPr>
        <p:blipFill>
          <a:blip r:embed="rId9"/>
          <a:stretch>
            <a:fillRect/>
          </a:stretch>
        </p:blipFill>
        <p:spPr>
          <a:xfrm>
            <a:off x="4681728" y="1453896"/>
            <a:ext cx="292608" cy="292608"/>
          </a:xfrm>
          <a:prstGeom prst="rect">
            <a:avLst/>
          </a:prstGeom>
        </p:spPr>
      </p:pic>
      <p:sp>
        <p:nvSpPr>
          <p:cNvPr id="24" name="Text 15"/>
          <p:cNvSpPr/>
          <p:nvPr/>
        </p:nvSpPr>
        <p:spPr>
          <a:xfrm>
            <a:off x="5074920" y="1481328"/>
            <a:ext cx="3840480" cy="274320"/>
          </a:xfrm>
          <a:prstGeom prst="rect">
            <a:avLst/>
          </a:prstGeom>
          <a:noFill/>
          <a:ln/>
        </p:spPr>
        <p:txBody>
          <a:bodyPr wrap="square" lIns="0" tIns="0" rIns="0" bIns="0" rtlCol="0" anchor="ctr"/>
          <a:lstStyle/>
          <a:p>
            <a:pPr marL="0" indent="0">
              <a:buNone/>
            </a:pPr>
            <a:r>
              <a:rPr lang="en-US" sz="1100" dirty="0">
                <a:solidFill>
                  <a:srgbClr val="FFFFFF"/>
                </a:solidFill>
              </a:rPr>
              <a:t>Database Integration (MySQL)</a:t>
            </a:r>
            <a:endParaRPr lang="en-US" sz="1100" dirty="0"/>
          </a:p>
        </p:txBody>
      </p:sp>
      <p:sp>
        <p:nvSpPr>
          <p:cNvPr id="25" name="Shape 16"/>
          <p:cNvSpPr/>
          <p:nvPr/>
        </p:nvSpPr>
        <p:spPr>
          <a:xfrm>
            <a:off x="4572000" y="1874520"/>
            <a:ext cx="4434840" cy="384048"/>
          </a:xfrm>
          <a:prstGeom prst="rect">
            <a:avLst/>
          </a:prstGeom>
          <a:solidFill>
            <a:srgbClr val="393939"/>
          </a:solidFill>
          <a:ln w="12700">
            <a:solidFill>
              <a:srgbClr val="0072C3"/>
            </a:solidFill>
            <a:prstDash val="solid"/>
          </a:ln>
        </p:spPr>
        <p:txBody>
          <a:bodyPr/>
          <a:lstStyle/>
          <a:p>
            <a:endParaRPr lang="en-IN"/>
          </a:p>
        </p:txBody>
      </p:sp>
      <p:pic>
        <p:nvPicPr>
          <p:cNvPr id="26" name="Image 7" descr="preencoded.png"/>
          <p:cNvPicPr>
            <a:picLocks noChangeAspect="1"/>
          </p:cNvPicPr>
          <p:nvPr/>
        </p:nvPicPr>
        <p:blipFill>
          <a:blip r:embed="rId10"/>
          <a:stretch>
            <a:fillRect/>
          </a:stretch>
        </p:blipFill>
        <p:spPr>
          <a:xfrm>
            <a:off x="4681728" y="1911096"/>
            <a:ext cx="292608" cy="292608"/>
          </a:xfrm>
          <a:prstGeom prst="rect">
            <a:avLst/>
          </a:prstGeom>
        </p:spPr>
      </p:pic>
      <p:sp>
        <p:nvSpPr>
          <p:cNvPr id="27" name="Text 17"/>
          <p:cNvSpPr/>
          <p:nvPr/>
        </p:nvSpPr>
        <p:spPr>
          <a:xfrm>
            <a:off x="5074920" y="1938528"/>
            <a:ext cx="3840480" cy="274320"/>
          </a:xfrm>
          <a:prstGeom prst="rect">
            <a:avLst/>
          </a:prstGeom>
          <a:noFill/>
          <a:ln/>
        </p:spPr>
        <p:txBody>
          <a:bodyPr wrap="square" lIns="0" tIns="0" rIns="0" bIns="0" rtlCol="0" anchor="ctr"/>
          <a:lstStyle/>
          <a:p>
            <a:pPr marL="0" indent="0">
              <a:buNone/>
            </a:pPr>
            <a:r>
              <a:rPr lang="en-US" sz="1100" dirty="0">
                <a:solidFill>
                  <a:srgbClr val="FFFFFF"/>
                </a:solidFill>
              </a:rPr>
              <a:t>Barcode / QR Code Support</a:t>
            </a:r>
            <a:endParaRPr lang="en-US" sz="1100" dirty="0"/>
          </a:p>
        </p:txBody>
      </p:sp>
      <p:sp>
        <p:nvSpPr>
          <p:cNvPr id="28" name="Shape 18"/>
          <p:cNvSpPr/>
          <p:nvPr/>
        </p:nvSpPr>
        <p:spPr>
          <a:xfrm>
            <a:off x="4572000" y="2331720"/>
            <a:ext cx="4434840" cy="384048"/>
          </a:xfrm>
          <a:prstGeom prst="rect">
            <a:avLst/>
          </a:prstGeom>
          <a:solidFill>
            <a:srgbClr val="001141"/>
          </a:solidFill>
          <a:ln w="12700">
            <a:solidFill>
              <a:srgbClr val="0072C3"/>
            </a:solidFill>
            <a:prstDash val="solid"/>
          </a:ln>
        </p:spPr>
        <p:txBody>
          <a:bodyPr/>
          <a:lstStyle/>
          <a:p>
            <a:endParaRPr lang="en-IN"/>
          </a:p>
        </p:txBody>
      </p:sp>
      <p:pic>
        <p:nvPicPr>
          <p:cNvPr id="29" name="Image 8" descr="preencoded.png"/>
          <p:cNvPicPr>
            <a:picLocks noChangeAspect="1"/>
          </p:cNvPicPr>
          <p:nvPr/>
        </p:nvPicPr>
        <p:blipFill>
          <a:blip r:embed="rId11"/>
          <a:stretch>
            <a:fillRect/>
          </a:stretch>
        </p:blipFill>
        <p:spPr>
          <a:xfrm>
            <a:off x="4681728" y="2368296"/>
            <a:ext cx="292608" cy="292608"/>
          </a:xfrm>
          <a:prstGeom prst="rect">
            <a:avLst/>
          </a:prstGeom>
        </p:spPr>
      </p:pic>
      <p:sp>
        <p:nvSpPr>
          <p:cNvPr id="30" name="Text 19"/>
          <p:cNvSpPr/>
          <p:nvPr/>
        </p:nvSpPr>
        <p:spPr>
          <a:xfrm>
            <a:off x="5074920" y="2395728"/>
            <a:ext cx="3840480" cy="274320"/>
          </a:xfrm>
          <a:prstGeom prst="rect">
            <a:avLst/>
          </a:prstGeom>
          <a:noFill/>
          <a:ln/>
        </p:spPr>
        <p:txBody>
          <a:bodyPr wrap="square" lIns="0" tIns="0" rIns="0" bIns="0" rtlCol="0" anchor="ctr"/>
          <a:lstStyle/>
          <a:p>
            <a:pPr marL="0" indent="0">
              <a:buNone/>
            </a:pPr>
            <a:r>
              <a:rPr lang="en-US" sz="1100" dirty="0">
                <a:solidFill>
                  <a:srgbClr val="FFFFFF"/>
                </a:solidFill>
              </a:rPr>
              <a:t>AI-based Demand Forecasting</a:t>
            </a:r>
            <a:endParaRPr lang="en-US" sz="1100" dirty="0"/>
          </a:p>
        </p:txBody>
      </p:sp>
      <p:sp>
        <p:nvSpPr>
          <p:cNvPr id="31" name="Shape 20"/>
          <p:cNvSpPr/>
          <p:nvPr/>
        </p:nvSpPr>
        <p:spPr>
          <a:xfrm>
            <a:off x="4572000" y="2788920"/>
            <a:ext cx="4434840" cy="384048"/>
          </a:xfrm>
          <a:prstGeom prst="rect">
            <a:avLst/>
          </a:prstGeom>
          <a:solidFill>
            <a:srgbClr val="393939"/>
          </a:solidFill>
          <a:ln w="12700">
            <a:solidFill>
              <a:srgbClr val="0072C3"/>
            </a:solidFill>
            <a:prstDash val="solid"/>
          </a:ln>
        </p:spPr>
        <p:txBody>
          <a:bodyPr/>
          <a:lstStyle/>
          <a:p>
            <a:endParaRPr lang="en-IN"/>
          </a:p>
        </p:txBody>
      </p:sp>
      <p:pic>
        <p:nvPicPr>
          <p:cNvPr id="32" name="Image 9" descr="preencoded.png"/>
          <p:cNvPicPr>
            <a:picLocks noChangeAspect="1"/>
          </p:cNvPicPr>
          <p:nvPr/>
        </p:nvPicPr>
        <p:blipFill>
          <a:blip r:embed="rId12"/>
          <a:stretch>
            <a:fillRect/>
          </a:stretch>
        </p:blipFill>
        <p:spPr>
          <a:xfrm>
            <a:off x="4681728" y="2825496"/>
            <a:ext cx="292608" cy="292608"/>
          </a:xfrm>
          <a:prstGeom prst="rect">
            <a:avLst/>
          </a:prstGeom>
        </p:spPr>
      </p:pic>
      <p:sp>
        <p:nvSpPr>
          <p:cNvPr id="33" name="Text 21"/>
          <p:cNvSpPr/>
          <p:nvPr/>
        </p:nvSpPr>
        <p:spPr>
          <a:xfrm>
            <a:off x="5074920" y="2852928"/>
            <a:ext cx="3840480" cy="274320"/>
          </a:xfrm>
          <a:prstGeom prst="rect">
            <a:avLst/>
          </a:prstGeom>
          <a:noFill/>
          <a:ln/>
        </p:spPr>
        <p:txBody>
          <a:bodyPr wrap="square" lIns="0" tIns="0" rIns="0" bIns="0" rtlCol="0" anchor="ctr"/>
          <a:lstStyle/>
          <a:p>
            <a:pPr marL="0" indent="0">
              <a:buNone/>
            </a:pPr>
            <a:r>
              <a:rPr lang="en-US" sz="1100" dirty="0">
                <a:solidFill>
                  <a:srgbClr val="FFFFFF"/>
                </a:solidFill>
              </a:rPr>
              <a:t>Cloud Deployment (IBM Cloud)</a:t>
            </a:r>
            <a:endParaRPr lang="en-US" sz="1100" dirty="0"/>
          </a:p>
        </p:txBody>
      </p:sp>
      <p:sp>
        <p:nvSpPr>
          <p:cNvPr id="34" name="Shape 22"/>
          <p:cNvSpPr/>
          <p:nvPr/>
        </p:nvSpPr>
        <p:spPr>
          <a:xfrm>
            <a:off x="4572000" y="3246120"/>
            <a:ext cx="4434840" cy="384048"/>
          </a:xfrm>
          <a:prstGeom prst="rect">
            <a:avLst/>
          </a:prstGeom>
          <a:solidFill>
            <a:srgbClr val="001141"/>
          </a:solidFill>
          <a:ln w="12700">
            <a:solidFill>
              <a:srgbClr val="0072C3"/>
            </a:solidFill>
            <a:prstDash val="solid"/>
          </a:ln>
        </p:spPr>
        <p:txBody>
          <a:bodyPr/>
          <a:lstStyle/>
          <a:p>
            <a:endParaRPr lang="en-IN"/>
          </a:p>
        </p:txBody>
      </p:sp>
      <p:pic>
        <p:nvPicPr>
          <p:cNvPr id="35" name="Image 10" descr="preencoded.png"/>
          <p:cNvPicPr>
            <a:picLocks noChangeAspect="1"/>
          </p:cNvPicPr>
          <p:nvPr/>
        </p:nvPicPr>
        <p:blipFill>
          <a:blip r:embed="rId13"/>
          <a:stretch>
            <a:fillRect/>
          </a:stretch>
        </p:blipFill>
        <p:spPr>
          <a:xfrm>
            <a:off x="4681728" y="3282696"/>
            <a:ext cx="292608" cy="292608"/>
          </a:xfrm>
          <a:prstGeom prst="rect">
            <a:avLst/>
          </a:prstGeom>
        </p:spPr>
      </p:pic>
      <p:sp>
        <p:nvSpPr>
          <p:cNvPr id="36" name="Text 23"/>
          <p:cNvSpPr/>
          <p:nvPr/>
        </p:nvSpPr>
        <p:spPr>
          <a:xfrm>
            <a:off x="5074920" y="3310128"/>
            <a:ext cx="3840480" cy="274320"/>
          </a:xfrm>
          <a:prstGeom prst="rect">
            <a:avLst/>
          </a:prstGeom>
          <a:noFill/>
          <a:ln/>
        </p:spPr>
        <p:txBody>
          <a:bodyPr wrap="square" lIns="0" tIns="0" rIns="0" bIns="0" rtlCol="0" anchor="ctr"/>
          <a:lstStyle/>
          <a:p>
            <a:pPr marL="0" indent="0">
              <a:buNone/>
            </a:pPr>
            <a:r>
              <a:rPr lang="en-US" sz="1100" dirty="0">
                <a:solidFill>
                  <a:srgbClr val="FFFFFF"/>
                </a:solidFill>
              </a:rPr>
              <a:t>Multi-Warehouse Management</a:t>
            </a:r>
            <a:endParaRPr lang="en-US" sz="1100" dirty="0"/>
          </a:p>
        </p:txBody>
      </p:sp>
      <p:sp>
        <p:nvSpPr>
          <p:cNvPr id="37" name="Shape 24"/>
          <p:cNvSpPr/>
          <p:nvPr/>
        </p:nvSpPr>
        <p:spPr>
          <a:xfrm>
            <a:off x="4572000" y="3703320"/>
            <a:ext cx="4434840" cy="384048"/>
          </a:xfrm>
          <a:prstGeom prst="rect">
            <a:avLst/>
          </a:prstGeom>
          <a:solidFill>
            <a:srgbClr val="393939"/>
          </a:solidFill>
          <a:ln w="12700">
            <a:solidFill>
              <a:srgbClr val="0072C3"/>
            </a:solidFill>
            <a:prstDash val="solid"/>
          </a:ln>
        </p:spPr>
        <p:txBody>
          <a:bodyPr/>
          <a:lstStyle/>
          <a:p>
            <a:endParaRPr lang="en-IN"/>
          </a:p>
        </p:txBody>
      </p:sp>
      <p:pic>
        <p:nvPicPr>
          <p:cNvPr id="38" name="Image 11" descr="preencoded.png"/>
          <p:cNvPicPr>
            <a:picLocks noChangeAspect="1"/>
          </p:cNvPicPr>
          <p:nvPr/>
        </p:nvPicPr>
        <p:blipFill>
          <a:blip r:embed="rId14"/>
          <a:stretch>
            <a:fillRect/>
          </a:stretch>
        </p:blipFill>
        <p:spPr>
          <a:xfrm>
            <a:off x="4681728" y="3739896"/>
            <a:ext cx="292608" cy="292608"/>
          </a:xfrm>
          <a:prstGeom prst="rect">
            <a:avLst/>
          </a:prstGeom>
        </p:spPr>
      </p:pic>
      <p:sp>
        <p:nvSpPr>
          <p:cNvPr id="39" name="Text 25"/>
          <p:cNvSpPr/>
          <p:nvPr/>
        </p:nvSpPr>
        <p:spPr>
          <a:xfrm>
            <a:off x="5074920" y="3767328"/>
            <a:ext cx="3840480" cy="274320"/>
          </a:xfrm>
          <a:prstGeom prst="rect">
            <a:avLst/>
          </a:prstGeom>
          <a:noFill/>
          <a:ln/>
        </p:spPr>
        <p:txBody>
          <a:bodyPr wrap="square" lIns="0" tIns="0" rIns="0" bIns="0" rtlCol="0" anchor="ctr"/>
          <a:lstStyle/>
          <a:p>
            <a:pPr marL="0" indent="0">
              <a:buNone/>
            </a:pPr>
            <a:r>
              <a:rPr lang="en-US" sz="1100" dirty="0">
                <a:solidFill>
                  <a:srgbClr val="FFFFFF"/>
                </a:solidFill>
              </a:rPr>
              <a:t>Mobile Application Integration</a:t>
            </a:r>
            <a:endParaRPr lang="en-US" sz="1100" dirty="0"/>
          </a:p>
        </p:txBody>
      </p:sp>
      <p:sp>
        <p:nvSpPr>
          <p:cNvPr id="40" name="Shape 26"/>
          <p:cNvSpPr/>
          <p:nvPr/>
        </p:nvSpPr>
        <p:spPr>
          <a:xfrm>
            <a:off x="73152" y="4754880"/>
            <a:ext cx="8997696" cy="274320"/>
          </a:xfrm>
          <a:prstGeom prst="rect">
            <a:avLst/>
          </a:prstGeom>
          <a:solidFill>
            <a:srgbClr val="001141">
              <a:alpha val="80000"/>
            </a:srgbClr>
          </a:solidFill>
          <a:ln w="12700">
            <a:solidFill>
              <a:srgbClr val="0043CE"/>
            </a:solidFill>
            <a:prstDash val="solid"/>
          </a:ln>
        </p:spPr>
        <p:txBody>
          <a:bodyPr/>
          <a:lstStyle/>
          <a:p>
            <a:endParaRPr lang="en-IN"/>
          </a:p>
        </p:txBody>
      </p:sp>
      <p:sp>
        <p:nvSpPr>
          <p:cNvPr id="41" name="Text 27"/>
          <p:cNvSpPr/>
          <p:nvPr/>
        </p:nvSpPr>
        <p:spPr>
          <a:xfrm>
            <a:off x="91440" y="4754880"/>
            <a:ext cx="8961120" cy="274320"/>
          </a:xfrm>
          <a:prstGeom prst="rect">
            <a:avLst/>
          </a:prstGeom>
          <a:noFill/>
          <a:ln/>
        </p:spPr>
        <p:txBody>
          <a:bodyPr wrap="square" lIns="0" tIns="0" rIns="0" bIns="0" rtlCol="0" anchor="ctr"/>
          <a:lstStyle/>
          <a:p>
            <a:pPr marL="0" indent="0" algn="ctr">
              <a:buNone/>
            </a:pPr>
            <a:r>
              <a:rPr lang="en-US" sz="900" dirty="0">
                <a:solidFill>
                  <a:srgbClr val="4589FF"/>
                </a:solidFill>
              </a:rPr>
              <a:t>IBM SkillsBuild  |  B.Tech CSE (AI &amp; ML)  |  Rajeev Ranjan</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4"/>
          <a:srcRect/>
          <a:stretch/>
        </p:blipFill>
        <p:spPr>
          <a:xfrm>
            <a:off x="7955280" y="164592"/>
            <a:ext cx="914400" cy="365760"/>
          </a:xfrm>
          <a:prstGeom prst="rect">
            <a:avLst/>
          </a:prstGeom>
        </p:spPr>
      </p:pic>
      <p:sp>
        <p:nvSpPr>
          <p:cNvPr id="3" name="Shape 0"/>
          <p:cNvSpPr/>
          <p:nvPr/>
        </p:nvSpPr>
        <p:spPr>
          <a:xfrm>
            <a:off x="0" y="0"/>
            <a:ext cx="73152" cy="5143500"/>
          </a:xfrm>
          <a:prstGeom prst="rect">
            <a:avLst/>
          </a:prstGeom>
          <a:solidFill>
            <a:srgbClr val="4589FF"/>
          </a:solidFill>
          <a:ln w="12700">
            <a:solidFill>
              <a:srgbClr val="4589FF"/>
            </a:solidFill>
            <a:prstDash val="solid"/>
          </a:ln>
        </p:spPr>
        <p:txBody>
          <a:bodyPr/>
          <a:lstStyle/>
          <a:p>
            <a:endParaRPr lang="en-IN"/>
          </a:p>
        </p:txBody>
      </p:sp>
      <p:sp>
        <p:nvSpPr>
          <p:cNvPr id="4" name="Shape 1"/>
          <p:cNvSpPr/>
          <p:nvPr/>
        </p:nvSpPr>
        <p:spPr>
          <a:xfrm>
            <a:off x="2560320" y="731520"/>
            <a:ext cx="4023360" cy="3657600"/>
          </a:xfrm>
          <a:prstGeom prst="ellipse">
            <a:avLst/>
          </a:prstGeom>
          <a:solidFill>
            <a:srgbClr val="0043CE">
              <a:alpha val="12000"/>
            </a:srgbClr>
          </a:solidFill>
          <a:ln w="12700">
            <a:solidFill>
              <a:srgbClr val="4589FF"/>
            </a:solidFill>
            <a:prstDash val="solid"/>
          </a:ln>
        </p:spPr>
        <p:txBody>
          <a:bodyPr/>
          <a:lstStyle/>
          <a:p>
            <a:endParaRPr lang="en-IN"/>
          </a:p>
        </p:txBody>
      </p:sp>
      <p:pic>
        <p:nvPicPr>
          <p:cNvPr id="5" name="Image 1" descr="preencoded.png"/>
          <p:cNvPicPr>
            <a:picLocks noChangeAspect="1"/>
          </p:cNvPicPr>
          <p:nvPr/>
        </p:nvPicPr>
        <p:blipFill>
          <a:blip r:embed="rId5"/>
          <a:stretch>
            <a:fillRect/>
          </a:stretch>
        </p:blipFill>
        <p:spPr>
          <a:xfrm>
            <a:off x="1097280" y="1097280"/>
            <a:ext cx="502920" cy="502920"/>
          </a:xfrm>
          <a:prstGeom prst="rect">
            <a:avLst/>
          </a:prstGeom>
        </p:spPr>
      </p:pic>
      <p:pic>
        <p:nvPicPr>
          <p:cNvPr id="6" name="Image 2" descr="preencoded.png"/>
          <p:cNvPicPr>
            <a:picLocks noChangeAspect="1"/>
          </p:cNvPicPr>
          <p:nvPr/>
        </p:nvPicPr>
        <p:blipFill>
          <a:blip r:embed="rId6"/>
          <a:stretch>
            <a:fillRect/>
          </a:stretch>
        </p:blipFill>
        <p:spPr>
          <a:xfrm>
            <a:off x="7315200" y="914400"/>
            <a:ext cx="502920" cy="502920"/>
          </a:xfrm>
          <a:prstGeom prst="rect">
            <a:avLst/>
          </a:prstGeom>
        </p:spPr>
      </p:pic>
      <p:pic>
        <p:nvPicPr>
          <p:cNvPr id="7" name="Image 3" descr="preencoded.png"/>
          <p:cNvPicPr>
            <a:picLocks noChangeAspect="1"/>
          </p:cNvPicPr>
          <p:nvPr/>
        </p:nvPicPr>
        <p:blipFill>
          <a:blip r:embed="rId7"/>
          <a:stretch>
            <a:fillRect/>
          </a:stretch>
        </p:blipFill>
        <p:spPr>
          <a:xfrm>
            <a:off x="731520" y="3200400"/>
            <a:ext cx="502920" cy="502920"/>
          </a:xfrm>
          <a:prstGeom prst="rect">
            <a:avLst/>
          </a:prstGeom>
        </p:spPr>
      </p:pic>
      <p:pic>
        <p:nvPicPr>
          <p:cNvPr id="8" name="Image 4" descr="preencoded.png"/>
          <p:cNvPicPr>
            <a:picLocks noChangeAspect="1"/>
          </p:cNvPicPr>
          <p:nvPr/>
        </p:nvPicPr>
        <p:blipFill>
          <a:blip r:embed="rId8"/>
          <a:stretch>
            <a:fillRect/>
          </a:stretch>
        </p:blipFill>
        <p:spPr>
          <a:xfrm>
            <a:off x="7589520" y="3291840"/>
            <a:ext cx="502920" cy="502920"/>
          </a:xfrm>
          <a:prstGeom prst="rect">
            <a:avLst/>
          </a:prstGeom>
        </p:spPr>
      </p:pic>
      <p:pic>
        <p:nvPicPr>
          <p:cNvPr id="9" name="Image 5" descr="preencoded.png"/>
          <p:cNvPicPr>
            <a:picLocks noChangeAspect="1"/>
          </p:cNvPicPr>
          <p:nvPr/>
        </p:nvPicPr>
        <p:blipFill>
          <a:blip r:embed="rId9"/>
          <a:stretch>
            <a:fillRect/>
          </a:stretch>
        </p:blipFill>
        <p:spPr>
          <a:xfrm>
            <a:off x="4297680" y="548640"/>
            <a:ext cx="502920" cy="502920"/>
          </a:xfrm>
          <a:prstGeom prst="rect">
            <a:avLst/>
          </a:prstGeom>
        </p:spPr>
      </p:pic>
      <p:pic>
        <p:nvPicPr>
          <p:cNvPr id="10" name="Image 6" descr="preencoded.png"/>
          <p:cNvPicPr>
            <a:picLocks noChangeAspect="1"/>
          </p:cNvPicPr>
          <p:nvPr/>
        </p:nvPicPr>
        <p:blipFill>
          <a:blip r:embed="rId10"/>
          <a:stretch>
            <a:fillRect/>
          </a:stretch>
        </p:blipFill>
        <p:spPr>
          <a:xfrm>
            <a:off x="4206240" y="4114800"/>
            <a:ext cx="502920" cy="502920"/>
          </a:xfrm>
          <a:prstGeom prst="rect">
            <a:avLst/>
          </a:prstGeom>
        </p:spPr>
      </p:pic>
      <p:sp>
        <p:nvSpPr>
          <p:cNvPr id="11" name="Text 2"/>
          <p:cNvSpPr/>
          <p:nvPr/>
        </p:nvSpPr>
        <p:spPr>
          <a:xfrm>
            <a:off x="457200" y="1371600"/>
            <a:ext cx="8229600" cy="1097280"/>
          </a:xfrm>
          <a:prstGeom prst="rect">
            <a:avLst/>
          </a:prstGeom>
          <a:noFill/>
          <a:ln/>
        </p:spPr>
        <p:txBody>
          <a:bodyPr wrap="square" lIns="0" tIns="0" rIns="0" bIns="0" rtlCol="0" anchor="ctr"/>
          <a:lstStyle/>
          <a:p>
            <a:pPr marL="0" indent="0" algn="ctr">
              <a:buNone/>
            </a:pPr>
            <a:r>
              <a:rPr lang="en-US" sz="5600" b="1" dirty="0">
                <a:solidFill>
                  <a:srgbClr val="FFFFFF"/>
                </a:solidFill>
                <a:latin typeface="Arial Black" pitchFamily="34" charset="0"/>
                <a:ea typeface="Arial Black" pitchFamily="34" charset="-122"/>
                <a:cs typeface="Arial Black" pitchFamily="34" charset="-120"/>
              </a:rPr>
              <a:t>Thank You</a:t>
            </a:r>
            <a:endParaRPr lang="en-US" sz="5600" dirty="0"/>
          </a:p>
        </p:txBody>
      </p:sp>
      <p:sp>
        <p:nvSpPr>
          <p:cNvPr id="12" name="Text 3"/>
          <p:cNvSpPr/>
          <p:nvPr/>
        </p:nvSpPr>
        <p:spPr>
          <a:xfrm>
            <a:off x="457200" y="2331720"/>
            <a:ext cx="8229600" cy="502920"/>
          </a:xfrm>
          <a:prstGeom prst="rect">
            <a:avLst/>
          </a:prstGeom>
          <a:noFill/>
          <a:ln/>
        </p:spPr>
        <p:txBody>
          <a:bodyPr wrap="square" lIns="0" tIns="0" rIns="0" bIns="0" rtlCol="0" anchor="ctr"/>
          <a:lstStyle/>
          <a:p>
            <a:pPr marL="0" indent="0" algn="ctr">
              <a:buNone/>
            </a:pPr>
            <a:r>
              <a:rPr lang="en-US" sz="2200" i="1" dirty="0">
                <a:solidFill>
                  <a:srgbClr val="4589FF"/>
                </a:solidFill>
              </a:rPr>
              <a:t>for Your Time and Attention</a:t>
            </a:r>
            <a:endParaRPr lang="en-US" sz="2200" dirty="0"/>
          </a:p>
        </p:txBody>
      </p:sp>
      <p:sp>
        <p:nvSpPr>
          <p:cNvPr id="13" name="Shape 4"/>
          <p:cNvSpPr/>
          <p:nvPr/>
        </p:nvSpPr>
        <p:spPr>
          <a:xfrm>
            <a:off x="2286000" y="2926080"/>
            <a:ext cx="4572000" cy="36576"/>
          </a:xfrm>
          <a:prstGeom prst="rect">
            <a:avLst/>
          </a:prstGeom>
          <a:solidFill>
            <a:srgbClr val="4589FF"/>
          </a:solidFill>
          <a:ln w="12700">
            <a:solidFill>
              <a:srgbClr val="4589FF"/>
            </a:solidFill>
            <a:prstDash val="solid"/>
          </a:ln>
        </p:spPr>
        <p:txBody>
          <a:bodyPr/>
          <a:lstStyle/>
          <a:p>
            <a:endParaRPr lang="en-IN"/>
          </a:p>
        </p:txBody>
      </p:sp>
      <p:sp>
        <p:nvSpPr>
          <p:cNvPr id="14" name="Shape 5"/>
          <p:cNvSpPr/>
          <p:nvPr/>
        </p:nvSpPr>
        <p:spPr>
          <a:xfrm>
            <a:off x="2011680" y="3063240"/>
            <a:ext cx="5120640" cy="804672"/>
          </a:xfrm>
          <a:prstGeom prst="rect">
            <a:avLst/>
          </a:prstGeom>
          <a:solidFill>
            <a:srgbClr val="0043CE"/>
          </a:solidFill>
          <a:ln w="12700">
            <a:solidFill>
              <a:srgbClr val="4589FF"/>
            </a:solidFill>
            <a:prstDash val="solid"/>
          </a:ln>
        </p:spPr>
        <p:txBody>
          <a:bodyPr/>
          <a:lstStyle/>
          <a:p>
            <a:endParaRPr lang="en-IN"/>
          </a:p>
        </p:txBody>
      </p:sp>
      <p:pic>
        <p:nvPicPr>
          <p:cNvPr id="15" name="Image 7" descr="preencoded.png"/>
          <p:cNvPicPr>
            <a:picLocks noChangeAspect="1"/>
          </p:cNvPicPr>
          <p:nvPr/>
        </p:nvPicPr>
        <p:blipFill>
          <a:blip r:embed="rId11"/>
          <a:stretch>
            <a:fillRect/>
          </a:stretch>
        </p:blipFill>
        <p:spPr>
          <a:xfrm>
            <a:off x="2148840" y="3227832"/>
            <a:ext cx="365760" cy="365760"/>
          </a:xfrm>
          <a:prstGeom prst="rect">
            <a:avLst/>
          </a:prstGeom>
        </p:spPr>
      </p:pic>
      <p:sp>
        <p:nvSpPr>
          <p:cNvPr id="16" name="Text 6"/>
          <p:cNvSpPr/>
          <p:nvPr/>
        </p:nvSpPr>
        <p:spPr>
          <a:xfrm>
            <a:off x="2606040" y="3108960"/>
            <a:ext cx="4434840" cy="731520"/>
          </a:xfrm>
          <a:prstGeom prst="rect">
            <a:avLst/>
          </a:prstGeom>
          <a:noFill/>
          <a:ln/>
        </p:spPr>
        <p:txBody>
          <a:bodyPr wrap="square" lIns="50800" tIns="50800" rIns="50800" bIns="50800" rtlCol="0" anchor="ctr"/>
          <a:lstStyle/>
          <a:p>
            <a:pPr marL="0" indent="0">
              <a:buNone/>
            </a:pPr>
            <a:r>
              <a:rPr lang="en-US" sz="1000" dirty="0">
                <a:solidFill>
                  <a:srgbClr val="AADDFF"/>
                </a:solidFill>
              </a:rPr>
              <a:t>Special Acknowledgment: </a:t>
            </a:r>
            <a:r>
              <a:rPr lang="en-US" sz="1300" b="1" dirty="0">
                <a:solidFill>
                  <a:srgbClr val="FFFFFF"/>
                </a:solidFill>
              </a:rPr>
              <a:t>Mr. Santanu Sasmal</a:t>
            </a:r>
            <a:r>
              <a:rPr lang="en-US" sz="1000" dirty="0">
                <a:solidFill>
                  <a:srgbClr val="CCDDFF"/>
                </a:solidFill>
              </a:rPr>
              <a:t>  —  IBM Subject Matter Expert (SME)</a:t>
            </a:r>
            <a:endParaRPr lang="en-US" sz="1000" dirty="0"/>
          </a:p>
        </p:txBody>
      </p:sp>
      <p:sp>
        <p:nvSpPr>
          <p:cNvPr id="17" name="Shape 7"/>
          <p:cNvSpPr/>
          <p:nvPr/>
        </p:nvSpPr>
        <p:spPr>
          <a:xfrm>
            <a:off x="73152" y="4754880"/>
            <a:ext cx="8997696" cy="274320"/>
          </a:xfrm>
          <a:prstGeom prst="rect">
            <a:avLst/>
          </a:prstGeom>
          <a:solidFill>
            <a:srgbClr val="0043CE"/>
          </a:solidFill>
          <a:ln w="12700">
            <a:solidFill>
              <a:srgbClr val="4589FF"/>
            </a:solidFill>
            <a:prstDash val="solid"/>
          </a:ln>
        </p:spPr>
        <p:txBody>
          <a:bodyPr/>
          <a:lstStyle/>
          <a:p>
            <a:endParaRPr lang="en-IN"/>
          </a:p>
        </p:txBody>
      </p:sp>
      <p:sp>
        <p:nvSpPr>
          <p:cNvPr id="18" name="Text 8"/>
          <p:cNvSpPr/>
          <p:nvPr/>
        </p:nvSpPr>
        <p:spPr>
          <a:xfrm>
            <a:off x="91440" y="4754880"/>
            <a:ext cx="8961120" cy="274320"/>
          </a:xfrm>
          <a:prstGeom prst="rect">
            <a:avLst/>
          </a:prstGeom>
          <a:noFill/>
          <a:ln/>
        </p:spPr>
        <p:txBody>
          <a:bodyPr wrap="square" lIns="0" tIns="0" rIns="0" bIns="0" rtlCol="0" anchor="ctr"/>
          <a:lstStyle/>
          <a:p>
            <a:pPr marL="0" indent="0" algn="ctr">
              <a:buNone/>
            </a:pPr>
            <a:r>
              <a:rPr lang="en-US" sz="1000" b="1" dirty="0">
                <a:solidFill>
                  <a:srgbClr val="FFFFFF"/>
                </a:solidFill>
              </a:rPr>
              <a:t>B.Tech CSE (AI &amp; ML)  •  IBM Academic Program  •  By Rajeev Ranjan</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328</TotalTime>
  <Words>673</Words>
  <Application>Microsoft Office PowerPoint</Application>
  <PresentationFormat>On-screen Show (16:9)</PresentationFormat>
  <Paragraphs>81</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Arial Black</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Warehouse Inventory Tracker</dc:title>
  <dc:subject>PptxGenJS Presentation</dc:subject>
  <dc:creator>Rajeev Ranjan</dc:creator>
  <cp:lastModifiedBy>Office</cp:lastModifiedBy>
  <cp:revision>7</cp:revision>
  <dcterms:created xsi:type="dcterms:W3CDTF">2026-06-06T07:33:12Z</dcterms:created>
  <dcterms:modified xsi:type="dcterms:W3CDTF">2026-06-09T13:43:12Z</dcterms:modified>
</cp:coreProperties>
</file>